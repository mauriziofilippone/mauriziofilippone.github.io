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</p:sldMasterIdLst>
  <p:notesMasterIdLst>
    <p:notesMasterId r:id="rId26"/>
  </p:notesMasterIdLst>
  <p:sldIdLst>
    <p:sldId id="1901" r:id="rId4"/>
    <p:sldId id="1905" r:id="rId5"/>
    <p:sldId id="1922" r:id="rId6"/>
    <p:sldId id="1904" r:id="rId7"/>
    <p:sldId id="1906" r:id="rId8"/>
    <p:sldId id="1908" r:id="rId9"/>
    <p:sldId id="1909" r:id="rId10"/>
    <p:sldId id="1910" r:id="rId11"/>
    <p:sldId id="1923" r:id="rId12"/>
    <p:sldId id="1924" r:id="rId13"/>
    <p:sldId id="1925" r:id="rId14"/>
    <p:sldId id="1926" r:id="rId15"/>
    <p:sldId id="1927" r:id="rId16"/>
    <p:sldId id="1928" r:id="rId17"/>
    <p:sldId id="1929" r:id="rId18"/>
    <p:sldId id="1930" r:id="rId19"/>
    <p:sldId id="1931" r:id="rId20"/>
    <p:sldId id="1932" r:id="rId21"/>
    <p:sldId id="1933" r:id="rId22"/>
    <p:sldId id="1934" r:id="rId23"/>
    <p:sldId id="1911" r:id="rId24"/>
    <p:sldId id="1935" r:id="rId25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700"/>
    <a:srgbClr val="F09100"/>
    <a:srgbClr val="01A4A6"/>
    <a:srgbClr val="CE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5"/>
    <p:restoredTop sz="79197"/>
  </p:normalViewPr>
  <p:slideViewPr>
    <p:cSldViewPr snapToGrid="0">
      <p:cViewPr varScale="1">
        <p:scale>
          <a:sx n="84" d="100"/>
          <a:sy n="84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D3380-639D-914D-ADAC-BC9FB4971063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996E5-92FB-0641-B1B1-728B46F51AD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099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2417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8AF15-528B-8E54-E09E-1E936DB5C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B01C1-EF43-18FD-62D5-0F909D977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C97F2-9597-5BD9-C8B7-3FC2B56B2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530D9-1474-D781-139E-95C1BE489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74211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246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3322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E6045-0771-BEB9-DFB7-8BFF4C62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148985-B5C6-D822-A968-46D5C15C1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36612-1856-4263-51AC-B9A0B4494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CDDFD-2C2E-44A6-A268-E920EBCA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8518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18F5-48AF-92DE-B192-C87653EA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9036E-647F-4E81-936C-E9AADDFAD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43965-37E6-4DF8-A7F9-78B92760A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4BF58-28FE-236A-0B31-A8238A0407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061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9DFAC-F34D-8183-684D-53D5D7A5E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B6C65-83C7-639A-CA45-4F42DC91C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8F855-D159-D317-CCD3-C1394EB49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06498-7555-2EEB-4C31-00AB4D969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8044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42DA-BA52-C1AC-73BB-59EC12FC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8E533-61ED-E010-1DBD-4B371BADA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7DDF9-5010-6344-7F3F-7BA42ECA5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7A52-7D71-8247-083D-DEA9976CE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009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EC3B-A0D9-03D0-715E-85FB40AC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945B3-BBCB-72F6-0810-10464F527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F236C-1819-1E74-0321-16B227184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3E33D-2742-52A1-7C9A-FD9871F52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0082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EE85-2B14-A0EA-35B0-3F29B01AC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DAB84-41A9-7B87-4BCB-1ACD715A4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B5D24-EFF7-6C87-8938-B541D5011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28BA1-19CA-63DE-784D-880E636B7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6195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F1D6-8304-C407-5206-C280C5B94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6F9BD-C104-4FFB-F6FD-E37DD79B2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EF38A-EFCB-57CD-EB03-C93973C0DB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5C3F9-2D15-AD48-32CB-05A9FD50D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1019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79C43-E7DE-D4C4-3F4D-BC9924F7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1BD96F-C6D0-8CD6-0B12-F75CE6B47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053884-39FE-7BCD-26DB-8F286F853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00914-DC4B-EA30-EB81-F174F46DC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17864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295F1-1C39-898F-2BFE-7E5E459B5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04B0A-2ECC-4549-4039-19292456D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77841-6ADA-51E2-3BC3-89954D681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0F34A-4586-2598-CBE8-6C78AE0390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92590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7C401-9A3D-2424-4859-FB8DFA2A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0AA79-B6E6-4467-6661-DC0D54A28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F947F-409E-3AA0-B737-E0522B6D8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6AC85-A4E7-9F9C-16C7-3EC79171F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85818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07BBF-52F8-557C-4505-EEB84F06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CF0AD-DCFA-5401-E5FE-1897BD004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156F0B-B9C3-A57F-F980-C073F4512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09FDF-B07F-C077-FDA0-1FAF2183F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5315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F359-0AA5-51DC-8E0A-D683575C0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9A2B5-1EDC-42EF-4A0F-78F10A7E5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675463-86DC-3082-8548-3B3BA2ADE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17ED5-0A3D-AD25-83AC-6838A7EA9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5004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B2E26-3539-C8B8-9166-8A67F5596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40DC5-5A13-9EF2-C8C1-D26B1212C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748C3-FD33-4490-5078-C33C2B8A2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BCA7E-EFB7-EFD5-6D7F-E6ABE898F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78905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ABF33-252F-DCF6-09F8-D8E2AD77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B98CC-53E7-3C02-A56C-8E349155D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F3A82-685F-5D30-E3B7-5E59226BF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BF943-A545-238E-732A-AE4B5C8D2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7794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6BAB-1D9F-B883-018C-41EBAEA6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7928D-E6EB-6F45-F171-C52AE98A5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A2B3BF-3516-DE9B-91BE-E0E6B316B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7248B-7399-D3C4-5644-03825DE65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20072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7D0A5-526C-9D6B-D65C-46FB2560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44710-56DB-B63D-998F-997342BCDC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CF61F-92B8-256E-0E2D-16AA9349E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2A3AD-A162-92B8-7615-744DA16607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5405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BAF8A-3AD4-BDA7-259F-73944E92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8E7E7-3DBD-BF18-E523-E6E90B785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069E7F-5D43-E948-30A7-E7F287166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D0618-3C29-12B1-B238-AB80A8524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F996E5-92FB-0641-B1B1-728B46F51ADD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6080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C63AF-5BAF-5CF8-CF29-50FE51CD8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1DA72-B46C-B091-55DE-186F47AE0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F0080-19BA-6607-3169-44A929F9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E2D57-47DE-60A4-9BC4-74557B08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BDE29-11C9-A028-F678-EDD8C9E75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710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0780-CF83-B1C1-D9B5-8A5F0C0D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BDA80-785D-B798-54A4-26599DE1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EF2AB-CA26-6D4D-F8DB-E040F0A0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0794D-A9C4-8F1D-8B95-DF319299D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B8FE-4B68-191C-E0AA-6AF2B7ED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99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439C-F310-11FC-2D55-5B5AE6F33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341F0-DB91-8DAB-3B4C-1C8BDEF5E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EE1FE-E14D-1D28-79D0-E40D5EB6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6A964-9EC6-C8A4-651E-CA6B5043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5A410-3ABF-1911-CE65-58D114F3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55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B60C4-5606-7913-2AD4-0CA06F7F1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D9D7A-74AE-2B4E-8CC9-77D0F3A69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1B39-3A0C-682A-2198-BB0486B6F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E4BEA-42D5-DF8C-F117-FA64B871E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379B4-2FF5-BDEE-8587-5DF000ED0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3F92A-B44C-9A18-5B24-11AB4B5D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35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6309-97A7-1DE7-6A14-1C0F701F0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43AD0-1F9A-88CC-89B2-D3BCCE4E6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3EA8A-056F-3DEE-841B-E9FCE62E3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82504-70DB-BBA2-DCEB-A496958F3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7EFC4-0EE0-7A94-BC29-CC95E07AB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67530A-45E4-862D-DDA4-876F602B7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87EDCD-FE05-DDD3-97C9-06672060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B12AC-413E-A0BF-0CFF-6BC5AFBB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33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8771B-16CB-24EB-821C-2EB9E51BA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C6EB9D-1209-CD02-E15D-7D136018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A515BE-8A59-533F-7F30-F7D96D4F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90809-E352-D080-796B-26B1090F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801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405D1-3709-D3B9-3D6A-A97524D30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70CAFD-D732-476A-4880-52224E14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5AA12-A6FB-D31F-2AA2-0FC853DF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99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4B704-EB13-9AFB-D7CD-B91B9A43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0BF0E-3815-80C0-BC47-0D0A4C4E6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ACB4C-E4E0-A914-82E0-817A525BF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C791D-E0F0-2CF9-FC8A-BD1B79CD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2D78-63CC-E777-7E7A-7F8140EA4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7A319-BA19-7937-6FFF-DFB3429F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611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249B-0433-B3E3-81AF-4C10E63C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7C96FE-40BD-FA79-E4F1-23F0522DF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33F45-A573-853B-5ACC-A50B6DADB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F8149-BC8B-AD8F-BD7C-4F7C3CA66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B2699-9276-EB17-6951-AB56E4695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B8067-8B19-82F0-F0B4-03779BB3D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996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F6F2F-BEED-D7A6-BF15-481625EFA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B1D6B-7F8D-4826-F6AF-91A78643C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7D5EF-B45C-5311-1480-A86FBC0E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34F65-8B5C-A78D-1FD3-F86460A6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279D7-CFC2-C8CE-489D-81FDAFF8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937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B99D34-9923-1D91-5B26-705A8DEE26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91CC0-9004-B5D6-9EE3-923472266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05115-5ED5-C60D-96C5-6D7DE13E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F2DFE-951F-B42C-4FE6-B644AD49A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B2113-49F1-9482-88D0-D1E21991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862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7454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0979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212726-7740-2A1A-81B4-CFF5FA25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B3A4C-3F0E-69A1-6A24-409B62B33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B470-ACC4-495F-81D3-2680AF995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C8889-D5CE-964A-BFF1-BF46ECCB5E85}" type="datetimeFigureOut">
              <a:rPr lang="en-GB" smtClean="0"/>
              <a:t>02/07/2026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F5234-E695-EB11-7F58-CD52869E2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B6F27-1F82-87A9-6287-8CDC28CE0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75CE9-CC5E-9C40-9B68-17B4A360B561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663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EFEDEE"/>
            </a:gs>
            <a:gs pos="53000">
              <a:srgbClr val="F1EFF0"/>
            </a:gs>
            <a:gs pos="77000">
              <a:srgbClr val="EFEDEE"/>
            </a:gs>
            <a:gs pos="100000">
              <a:srgbClr val="EFEBE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610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3" tooltip="PresentationGo!"/>
              </a:rPr>
              <a:t>presentationgo.com</a:t>
            </a:r>
            <a:endParaRPr lang="en-US" sz="1100" dirty="0"/>
          </a:p>
        </p:txBody>
      </p:sp>
      <p:sp>
        <p:nvSpPr>
          <p:cNvPr id="13" name="Freeform 12"/>
          <p:cNvSpPr/>
          <p:nvPr userDrawn="1"/>
        </p:nvSpPr>
        <p:spPr>
          <a:xfrm rot="5400000">
            <a:off x="91178" y="173588"/>
            <a:ext cx="369496" cy="570902"/>
          </a:xfrm>
          <a:custGeom>
            <a:avLst/>
            <a:gdLst>
              <a:gd name="connsiteX0" fmla="*/ 210916 w 1034764"/>
              <a:gd name="connsiteY0" fmla="*/ 535701 h 1598797"/>
              <a:gd name="connsiteX1" fmla="*/ 331908 w 1034764"/>
              <a:gd name="connsiteY1" fmla="*/ 284049 h 1598797"/>
              <a:gd name="connsiteX2" fmla="*/ 741774 w 1034764"/>
              <a:gd name="connsiteY2" fmla="*/ 315409 h 1598797"/>
              <a:gd name="connsiteX3" fmla="*/ 403935 w 1034764"/>
              <a:gd name="connsiteY3" fmla="*/ 375418 h 1598797"/>
              <a:gd name="connsiteX4" fmla="*/ 266699 w 1034764"/>
              <a:gd name="connsiteY4" fmla="*/ 689905 h 1598797"/>
              <a:gd name="connsiteX5" fmla="*/ 266698 w 1034764"/>
              <a:gd name="connsiteY5" fmla="*/ 689907 h 1598797"/>
              <a:gd name="connsiteX6" fmla="*/ 210916 w 1034764"/>
              <a:gd name="connsiteY6" fmla="*/ 535701 h 1598797"/>
              <a:gd name="connsiteX7" fmla="*/ 134938 w 1034764"/>
              <a:gd name="connsiteY7" fmla="*/ 517381 h 1598797"/>
              <a:gd name="connsiteX8" fmla="*/ 517383 w 1034764"/>
              <a:gd name="connsiteY8" fmla="*/ 899826 h 1598797"/>
              <a:gd name="connsiteX9" fmla="*/ 899828 w 1034764"/>
              <a:gd name="connsiteY9" fmla="*/ 517381 h 1598797"/>
              <a:gd name="connsiteX10" fmla="*/ 517383 w 1034764"/>
              <a:gd name="connsiteY10" fmla="*/ 134936 h 1598797"/>
              <a:gd name="connsiteX11" fmla="*/ 134938 w 1034764"/>
              <a:gd name="connsiteY11" fmla="*/ 517381 h 1598797"/>
              <a:gd name="connsiteX12" fmla="*/ 0 w 1034764"/>
              <a:gd name="connsiteY12" fmla="*/ 517382 h 1598797"/>
              <a:gd name="connsiteX13" fmla="*/ 517382 w 1034764"/>
              <a:gd name="connsiteY13" fmla="*/ 0 h 1598797"/>
              <a:gd name="connsiteX14" fmla="*/ 1034764 w 1034764"/>
              <a:gd name="connsiteY14" fmla="*/ 517382 h 1598797"/>
              <a:gd name="connsiteX15" fmla="*/ 621653 w 1034764"/>
              <a:gd name="connsiteY15" fmla="*/ 1024253 h 1598797"/>
              <a:gd name="connsiteX16" fmla="*/ 620527 w 1034764"/>
              <a:gd name="connsiteY16" fmla="*/ 1024366 h 1598797"/>
              <a:gd name="connsiteX17" fmla="*/ 662992 w 1034764"/>
              <a:gd name="connsiteY17" fmla="*/ 1598797 h 1598797"/>
              <a:gd name="connsiteX18" fmla="*/ 371775 w 1034764"/>
              <a:gd name="connsiteY18" fmla="*/ 1598797 h 1598797"/>
              <a:gd name="connsiteX19" fmla="*/ 414241 w 1034764"/>
              <a:gd name="connsiteY19" fmla="*/ 1024367 h 1598797"/>
              <a:gd name="connsiteX20" fmla="*/ 413112 w 1034764"/>
              <a:gd name="connsiteY20" fmla="*/ 1024253 h 1598797"/>
              <a:gd name="connsiteX21" fmla="*/ 0 w 1034764"/>
              <a:gd name="connsiteY21" fmla="*/ 517382 h 1598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034764" h="1598797">
                <a:moveTo>
                  <a:pt x="210916" y="535701"/>
                </a:moveTo>
                <a:cubicBezTo>
                  <a:pt x="207764" y="443901"/>
                  <a:pt x="249915" y="348683"/>
                  <a:pt x="331908" y="284049"/>
                </a:cubicBezTo>
                <a:cubicBezTo>
                  <a:pt x="463097" y="180634"/>
                  <a:pt x="646600" y="194675"/>
                  <a:pt x="741774" y="315409"/>
                </a:cubicBezTo>
                <a:cubicBezTo>
                  <a:pt x="631231" y="275026"/>
                  <a:pt x="502220" y="297941"/>
                  <a:pt x="403935" y="375418"/>
                </a:cubicBezTo>
                <a:cubicBezTo>
                  <a:pt x="305650" y="452895"/>
                  <a:pt x="253243" y="572989"/>
                  <a:pt x="266699" y="689905"/>
                </a:cubicBezTo>
                <a:lnTo>
                  <a:pt x="266698" y="689907"/>
                </a:lnTo>
                <a:cubicBezTo>
                  <a:pt x="231008" y="644631"/>
                  <a:pt x="212807" y="590781"/>
                  <a:pt x="210916" y="535701"/>
                </a:cubicBezTo>
                <a:close/>
                <a:moveTo>
                  <a:pt x="134938" y="517381"/>
                </a:moveTo>
                <a:cubicBezTo>
                  <a:pt x="134938" y="728600"/>
                  <a:pt x="306164" y="899826"/>
                  <a:pt x="517383" y="899826"/>
                </a:cubicBezTo>
                <a:cubicBezTo>
                  <a:pt x="728602" y="899826"/>
                  <a:pt x="899828" y="728600"/>
                  <a:pt x="899828" y="517381"/>
                </a:cubicBezTo>
                <a:cubicBezTo>
                  <a:pt x="899828" y="306162"/>
                  <a:pt x="728602" y="134936"/>
                  <a:pt x="517383" y="134936"/>
                </a:cubicBezTo>
                <a:cubicBezTo>
                  <a:pt x="306164" y="134936"/>
                  <a:pt x="134938" y="306162"/>
                  <a:pt x="134938" y="517381"/>
                </a:cubicBezTo>
                <a:close/>
                <a:moveTo>
                  <a:pt x="0" y="517382"/>
                </a:moveTo>
                <a:cubicBezTo>
                  <a:pt x="0" y="231640"/>
                  <a:pt x="231640" y="0"/>
                  <a:pt x="517382" y="0"/>
                </a:cubicBezTo>
                <a:cubicBezTo>
                  <a:pt x="803124" y="0"/>
                  <a:pt x="1034764" y="231640"/>
                  <a:pt x="1034764" y="517382"/>
                </a:cubicBezTo>
                <a:cubicBezTo>
                  <a:pt x="1034764" y="767406"/>
                  <a:pt x="857415" y="976008"/>
                  <a:pt x="621653" y="1024253"/>
                </a:cubicBezTo>
                <a:lnTo>
                  <a:pt x="620527" y="1024366"/>
                </a:lnTo>
                <a:lnTo>
                  <a:pt x="662992" y="1598797"/>
                </a:lnTo>
                <a:lnTo>
                  <a:pt x="371775" y="1598797"/>
                </a:lnTo>
                <a:lnTo>
                  <a:pt x="414241" y="1024367"/>
                </a:lnTo>
                <a:lnTo>
                  <a:pt x="413112" y="1024253"/>
                </a:lnTo>
                <a:cubicBezTo>
                  <a:pt x="177349" y="976008"/>
                  <a:pt x="0" y="767406"/>
                  <a:pt x="0" y="5173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2700" dist="127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2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3482"/>
            <a:ext cx="10515600" cy="739056"/>
          </a:xfrm>
          <a:prstGeom prst="rect">
            <a:avLst/>
          </a:prstGeom>
        </p:spPr>
        <p:txBody>
          <a:bodyPr rIns="0">
            <a:normAutofit/>
          </a:bodyPr>
          <a:lstStyle/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778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" y="0"/>
            <a:ext cx="12190549" cy="6858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5D703C1-F33D-4540-A80B-80E1E0A7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1259" y="2272553"/>
            <a:ext cx="8296887" cy="2675965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Raleway" panose="020B0003030101060003" pitchFamily="34" charset="0"/>
              </a:rPr>
              <a:t>Model Selection for Overparameterized Models</a:t>
            </a:r>
            <a:br>
              <a:rPr lang="en-US" sz="4000" b="1" dirty="0">
                <a:solidFill>
                  <a:schemeClr val="bg1"/>
                </a:solidFill>
                <a:latin typeface="Raleway" panose="020B0003030101060003" pitchFamily="34" charset="0"/>
              </a:rPr>
            </a:br>
            <a:br>
              <a:rPr lang="en-US" sz="4000" b="1" dirty="0">
                <a:solidFill>
                  <a:schemeClr val="bg1"/>
                </a:solidFill>
                <a:latin typeface="Raleway" panose="020B0003030101060003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Raleway" panose="020B0003030101060003" pitchFamily="34" charset="0"/>
              </a:rPr>
              <a:t>Maurizio Filippone</a:t>
            </a:r>
            <a:br>
              <a:rPr lang="en-US" sz="2400" b="1" dirty="0">
                <a:solidFill>
                  <a:schemeClr val="bg1"/>
                </a:solidFill>
                <a:latin typeface="Raleway" panose="020B0003030101060003" pitchFamily="34" charset="0"/>
              </a:rPr>
            </a:br>
            <a:r>
              <a:rPr lang="en-US" sz="2400" b="1" dirty="0">
                <a:solidFill>
                  <a:schemeClr val="bg1"/>
                </a:solidFill>
                <a:latin typeface="Raleway" panose="020B0003030101060003" pitchFamily="34" charset="0"/>
              </a:rPr>
              <a:t>Statistics Program, KAUST</a:t>
            </a:r>
            <a:endParaRPr lang="en-US" sz="4000" b="1" dirty="0">
              <a:solidFill>
                <a:schemeClr val="bg1"/>
              </a:solidFill>
              <a:latin typeface="Raleway" panose="020B0003030101060003" pitchFamily="34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3221308" y="2377910"/>
            <a:ext cx="0" cy="1156677"/>
          </a:xfrm>
          <a:prstGeom prst="line">
            <a:avLst/>
          </a:prstGeom>
          <a:ln w="889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1">
            <a:extLst>
              <a:ext uri="{FF2B5EF4-FFF2-40B4-BE49-F238E27FC236}">
                <a16:creationId xmlns:a16="http://schemas.microsoft.com/office/drawing/2014/main" id="{FCFD0669-62E7-9AC0-1261-0D7BCF018CC2}"/>
              </a:ext>
            </a:extLst>
          </p:cNvPr>
          <p:cNvSpPr txBox="1">
            <a:spLocks/>
          </p:cNvSpPr>
          <p:nvPr/>
        </p:nvSpPr>
        <p:spPr>
          <a:xfrm>
            <a:off x="3317148" y="4191904"/>
            <a:ext cx="7535795" cy="461665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171D0"/>
              </a:buClr>
              <a:buSzPct val="85000"/>
              <a:buFontTx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</a:t>
            </a:r>
            <a:endParaRPr kumimoji="0" lang="it-IT" sz="2000" b="0" i="0" u="none" strike="noStrike" kern="1200" cap="none" spc="0" normalizeH="0" baseline="0" noProof="0" dirty="0">
              <a:ln>
                <a:noFill/>
              </a:ln>
              <a:solidFill>
                <a:srgbClr val="E97132">
                  <a:lumMod val="10000"/>
                </a:srgbClr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225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A2C4E14D-BC98-507E-C34E-05C591B986F4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505E7938-84C2-58FE-99D5-859DDD1677BC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Double Descent and Neural Scaling Laws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56548C1C-51B2-D396-B9EF-DF02DE322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78FAF5-C8D2-D9CF-4341-043C1EF7A465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A" sz="1400" b="1" dirty="0"/>
              <a:t>Belkin et al., PNAS 2019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28A139-9927-2C1C-4058-B67E7894903B}"/>
              </a:ext>
            </a:extLst>
          </p:cNvPr>
          <p:cNvSpPr txBox="1"/>
          <p:nvPr/>
        </p:nvSpPr>
        <p:spPr>
          <a:xfrm>
            <a:off x="157276" y="1135116"/>
            <a:ext cx="1178247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/>
              <a:t>Double descent </a:t>
            </a:r>
            <a:r>
              <a:rPr lang="en-US" dirty="0"/>
              <a:t>challenged common wisdom on overfitting!</a:t>
            </a:r>
          </a:p>
        </p:txBody>
      </p:sp>
      <p:pic>
        <p:nvPicPr>
          <p:cNvPr id="8" name="Picture 7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D8D4E487-73CB-7017-A317-72374509B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088" y="1814816"/>
            <a:ext cx="8309529" cy="414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14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4EA0-B5F2-6940-DD3F-43038B34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BF80E60C-280F-34C2-14D0-75A72858B78A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BF95C650-4667-940D-F818-BA8B7879E85B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Double Descent and Neural Scaling Laws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5CF0A5DE-AD79-048C-1B57-34274A6E7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ACE761-A8C7-EEC9-CB5C-5ACF965717B0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Kaplan et al., </a:t>
            </a:r>
            <a:r>
              <a:rPr lang="en-US" sz="1400" b="1" dirty="0" err="1"/>
              <a:t>arXiv</a:t>
            </a:r>
            <a:r>
              <a:rPr lang="en-US" sz="1400" b="1" dirty="0"/>
              <a:t> 2020 – Bahri et al., PNAS 2024 – Rosso et al., </a:t>
            </a:r>
            <a:r>
              <a:rPr lang="en-US" sz="1400" b="1" dirty="0" err="1"/>
              <a:t>arXiv</a:t>
            </a:r>
            <a:r>
              <a:rPr lang="en-US" sz="1400" b="1" dirty="0"/>
              <a:t> 2025</a:t>
            </a:r>
            <a:endParaRPr lang="en-SA" sz="1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366A4-844D-D137-9096-A53F0B016DB5}"/>
              </a:ext>
            </a:extLst>
          </p:cNvPr>
          <p:cNvSpPr txBox="1"/>
          <p:nvPr/>
        </p:nvSpPr>
        <p:spPr>
          <a:xfrm>
            <a:off x="157276" y="1135116"/>
            <a:ext cx="1178247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b="1" dirty="0"/>
              <a:t>Neural scaling laws </a:t>
            </a:r>
            <a:r>
              <a:rPr lang="en-US" dirty="0"/>
              <a:t>allow one to extrapolate generalization </a:t>
            </a:r>
            <a:r>
              <a:rPr lang="en-US" dirty="0" err="1"/>
              <a:t>wrt</a:t>
            </a:r>
            <a:r>
              <a:rPr lang="en-US" dirty="0"/>
              <a:t> to model size, compute, and data set size.</a:t>
            </a: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8284CEE3-BFFE-8AFC-AA43-203AB9088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333" y="1640539"/>
            <a:ext cx="9733054" cy="435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2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A2C4E14D-BC98-507E-C34E-05C591B986F4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505E7938-84C2-58FE-99D5-859DDD1677BC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Bayesian Model Selection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56548C1C-51B2-D396-B9EF-DF02DE322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28A139-9927-2C1C-4058-B67E7894903B}"/>
              </a:ext>
            </a:extLst>
          </p:cNvPr>
          <p:cNvSpPr txBox="1"/>
          <p:nvPr/>
        </p:nvSpPr>
        <p:spPr>
          <a:xfrm>
            <a:off x="157276" y="1135116"/>
            <a:ext cx="1178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SA" dirty="0"/>
              <a:t>Marginal Likelihood as a model selection criterion</a:t>
            </a:r>
            <a:r>
              <a:rPr lang="en-US" dirty="0"/>
              <a:t>.</a:t>
            </a:r>
            <a:endParaRPr lang="en-S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7">
                <a:extLst>
                  <a:ext uri="{FF2B5EF4-FFF2-40B4-BE49-F238E27FC236}">
                    <a16:creationId xmlns:a16="http://schemas.microsoft.com/office/drawing/2014/main" id="{30141E37-B2C5-00FF-AB12-33854F1CF8D7}"/>
                  </a:ext>
                </a:extLst>
              </p:cNvPr>
              <p:cNvSpPr txBox="1"/>
              <p:nvPr/>
            </p:nvSpPr>
            <p:spPr>
              <a:xfrm>
                <a:off x="3436723" y="1969255"/>
                <a:ext cx="6070804" cy="863057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spcBef>
                    <a:spcPts val="95"/>
                  </a:spcBef>
                  <a:tabLst>
                    <a:tab pos="903605" algn="l"/>
                    <a:tab pos="187388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ahoma"/>
                        </a:rPr>
                        <m:t>𝒑</m:t>
                      </m:r>
                      <m:d>
                        <m:dPr>
                          <m:ctrlP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𝐖</m:t>
                          </m:r>
                          <m:r>
                            <a:rPr lang="en-US" sz="2400" b="1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 | </m:t>
                          </m:r>
                          <m:r>
                            <a:rPr lang="en-US" sz="24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𝐘</m:t>
                          </m:r>
                          <m:r>
                            <a:rPr lang="en-US" sz="24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, </m:t>
                          </m:r>
                          <m:r>
                            <a:rPr lang="en-US" sz="2400" b="1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𝐗</m:t>
                          </m:r>
                        </m:e>
                      </m:d>
                      <m:r>
                        <a:rPr lang="en-US" sz="24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cs typeface="Tahoma"/>
                        </a:rPr>
                        <m:t>= </m:t>
                      </m:r>
                      <m:f>
                        <m:fPr>
                          <m:ctrlP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𝐘</m:t>
                              </m:r>
                              <m:r>
                                <a:rPr lang="en-US" sz="2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 | </m:t>
                              </m:r>
                              <m:r>
                                <a:rPr lang="en-US" sz="2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𝐗</m:t>
                              </m:r>
                              <m:r>
                                <a:rPr lang="en-US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,</m:t>
                              </m:r>
                              <m:r>
                                <a:rPr lang="en-US" sz="2400" b="1" i="0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 </m:t>
                              </m:r>
                              <m:r>
                                <a:rPr lang="en-US" sz="2400" b="1" i="0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𝐖</m:t>
                              </m:r>
                            </m:e>
                          </m:d>
                          <m:r>
                            <a:rPr lang="en-US" sz="24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𝒑</m:t>
                          </m:r>
                          <m:d>
                            <m:dPr>
                              <m:ctrlP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𝐖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2400" b="1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𝐘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 | 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𝐗</m:t>
                                  </m:r>
                                  <m:r>
                                    <a:rPr lang="en-US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,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 </m:t>
                                  </m:r>
                                  <m:r>
                                    <a:rPr lang="en-US" sz="2400" b="1" i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𝐖</m:t>
                                  </m:r>
                                </m:e>
                              </m:d>
                              <m:r>
                                <a:rPr lang="en-US" sz="2400" b="1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Tahoma"/>
                                </a:rPr>
                                <m:t>𝒑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cs typeface="Tahoma"/>
                                    </a:rPr>
                                    <m:t>𝐖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400" b="1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𝒅</m:t>
                          </m:r>
                          <m:r>
                            <a:rPr lang="en-US" sz="2400" b="1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cs typeface="Tahoma"/>
                            </a:rPr>
                            <m:t>𝐖</m:t>
                          </m:r>
                        </m:den>
                      </m:f>
                    </m:oMath>
                  </m:oMathPara>
                </a14:m>
                <a:endParaRPr sz="24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object 17">
                <a:extLst>
                  <a:ext uri="{FF2B5EF4-FFF2-40B4-BE49-F238E27FC236}">
                    <a16:creationId xmlns:a16="http://schemas.microsoft.com/office/drawing/2014/main" id="{30141E37-B2C5-00FF-AB12-33854F1CF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723" y="1969255"/>
                <a:ext cx="6070804" cy="863057"/>
              </a:xfrm>
              <a:prstGeom prst="rect">
                <a:avLst/>
              </a:prstGeom>
              <a:blipFill>
                <a:blip r:embed="rId4"/>
                <a:stretch>
                  <a:fillRect t="-40580" b="-126087"/>
                </a:stretch>
              </a:blipFill>
            </p:spPr>
            <p:txBody>
              <a:bodyPr/>
              <a:lstStyle/>
              <a:p>
                <a:r>
                  <a:rPr lang="en-S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68B4E0F-8F20-DE7E-AFCE-2820AEB25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506" y="3549903"/>
            <a:ext cx="3641246" cy="2372500"/>
          </a:xfrm>
          <a:prstGeom prst="rect">
            <a:avLst/>
          </a:prstGeom>
        </p:spPr>
      </p:pic>
      <p:pic>
        <p:nvPicPr>
          <p:cNvPr id="12" name="Picture 11" descr="A graph with a line&#10;&#10;AI-generated content may be incorrect.">
            <a:extLst>
              <a:ext uri="{FF2B5EF4-FFF2-40B4-BE49-F238E27FC236}">
                <a16:creationId xmlns:a16="http://schemas.microsoft.com/office/drawing/2014/main" id="{7A6613D5-7ABE-3348-9879-28974DBB14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713" y="3418789"/>
            <a:ext cx="6251904" cy="27191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AA66C30-A7D8-918D-28EE-81A69D4A1322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Bishop, 2006.</a:t>
            </a:r>
            <a:endParaRPr lang="en-SA" sz="1400" b="1" dirty="0"/>
          </a:p>
        </p:txBody>
      </p:sp>
    </p:spTree>
    <p:extLst>
      <p:ext uri="{BB962C8B-B14F-4D97-AF65-F5344CB8AC3E}">
        <p14:creationId xmlns:p14="http://schemas.microsoft.com/office/powerpoint/2010/main" val="1631700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A2C4E14D-BC98-507E-C34E-05C591B986F4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505E7938-84C2-58FE-99D5-859DDD1677BC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Bayesian Model Selection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56548C1C-51B2-D396-B9EF-DF02DE3221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28A139-9927-2C1C-4058-B67E7894903B}"/>
              </a:ext>
            </a:extLst>
          </p:cNvPr>
          <p:cNvSpPr txBox="1"/>
          <p:nvPr/>
        </p:nvSpPr>
        <p:spPr>
          <a:xfrm>
            <a:off x="157276" y="1135116"/>
            <a:ext cx="11782476" cy="4068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b="1" dirty="0"/>
              <a:t>Bayesian Model selection </a:t>
            </a:r>
            <a:r>
              <a:rPr lang="en-US" dirty="0"/>
              <a:t>is connected with: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Occam’s Razor</a:t>
            </a:r>
            <a:r>
              <a:rPr lang="en-US" dirty="0"/>
              <a:t>: simplest explanation is usually the best one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Kolmogorov complexity</a:t>
            </a:r>
            <a:r>
              <a:rPr lang="en-US" dirty="0"/>
              <a:t>: length of a shortest computer program generating the weights of the network</a:t>
            </a:r>
          </a:p>
          <a:p>
            <a:pPr marL="742950" lvl="1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Minimum Description Length</a:t>
            </a:r>
            <a:r>
              <a:rPr lang="en-US" dirty="0"/>
              <a:t>: find the most concise representation of the data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>
                <a:solidFill>
                  <a:srgbClr val="C00000"/>
                </a:solidFill>
              </a:rPr>
              <a:t>How do we reconcile Bayesian model selection with the conclusions from research on scaling laws?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256904-E527-D112-4E32-6FC7EF988C80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Solomonoff</a:t>
            </a:r>
            <a:r>
              <a:rPr lang="en-US" sz="1400" b="1" dirty="0"/>
              <a:t>, Information and Control 1964 – </a:t>
            </a:r>
            <a:r>
              <a:rPr lang="en-US" sz="1400" b="1" dirty="0" err="1"/>
              <a:t>Schmidhuber</a:t>
            </a:r>
            <a:r>
              <a:rPr lang="en-US" sz="1400" b="1" dirty="0"/>
              <a:t>, ICML 1995 – Hinton and Van Camp, COLT 1993 </a:t>
            </a:r>
            <a:endParaRPr lang="en-SA" sz="1400" b="1" dirty="0"/>
          </a:p>
        </p:txBody>
      </p:sp>
    </p:spTree>
    <p:extLst>
      <p:ext uri="{BB962C8B-B14F-4D97-AF65-F5344CB8AC3E}">
        <p14:creationId xmlns:p14="http://schemas.microsoft.com/office/powerpoint/2010/main" val="278479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6A78C-F108-C585-9C7E-46A8FC219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CBF91E50-4EC7-9C14-56F7-722FBCAEDA85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27C4ABB2-03B4-ABFA-E6DA-C554665CBF70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Penalizing Complexity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B48272A4-E8CE-6495-9FC1-2B326A2A8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5DCDA3-9FB3-4F3D-1B28-37FB4B91793D}"/>
              </a:ext>
            </a:extLst>
          </p:cNvPr>
          <p:cNvSpPr txBox="1"/>
          <p:nvPr/>
        </p:nvSpPr>
        <p:spPr>
          <a:xfrm>
            <a:off x="157276" y="1135116"/>
            <a:ext cx="1178247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Consider </a:t>
            </a:r>
            <a:r>
              <a:rPr lang="en-US" b="1" dirty="0"/>
              <a:t>trigonometric regression </a:t>
            </a:r>
            <a:r>
              <a:rPr lang="en-US" dirty="0"/>
              <a:t>as follows: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2E2C5-544B-419E-A9CD-FB2F6104CC61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Rasmussen and Ghahramani, </a:t>
            </a:r>
            <a:r>
              <a:rPr lang="en-US" sz="1400" b="1" dirty="0" err="1"/>
              <a:t>NeurIPS</a:t>
            </a:r>
            <a:r>
              <a:rPr lang="en-US" sz="1400" b="1" dirty="0"/>
              <a:t> 2000.</a:t>
            </a:r>
            <a:endParaRPr lang="en-SA" sz="1400" b="1" dirty="0"/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A732E78-89BB-B7A9-553D-370C1FE27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931" y="1026840"/>
            <a:ext cx="4356100" cy="850900"/>
          </a:xfrm>
          <a:prstGeom prst="rect">
            <a:avLst/>
          </a:prstGeom>
        </p:spPr>
      </p:pic>
      <p:pic>
        <p:nvPicPr>
          <p:cNvPr id="9" name="Picture 8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0401A059-FB11-91F2-1C8C-E63848EFF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804" y="1782707"/>
            <a:ext cx="5851946" cy="4416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4B304-4348-0661-D9A6-5BB3BBE6F405}"/>
              </a:ext>
            </a:extLst>
          </p:cNvPr>
          <p:cNvSpPr txBox="1"/>
          <p:nvPr/>
        </p:nvSpPr>
        <p:spPr>
          <a:xfrm>
            <a:off x="9160529" y="2656987"/>
            <a:ext cx="2484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Gaussian prior with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v</a:t>
            </a:r>
            <a:r>
              <a:rPr lang="en-SA" sz="1600" dirty="0">
                <a:solidFill>
                  <a:srgbClr val="C00000"/>
                </a:solidFill>
              </a:rPr>
              <a:t>ariance independent of </a:t>
            </a:r>
            <a:r>
              <a:rPr lang="en-SA" sz="1600" i="1" dirty="0">
                <a:solidFill>
                  <a:srgbClr val="C00000"/>
                </a:solidFill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49384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6B45-133E-5BA3-233B-1BC9AC96A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2C7F28E9-1F00-ED42-7581-DCA78371AE00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BB96C2C-F10A-A141-85CA-F3149CD711BB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Penalizing Complexity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97D4C5C0-178A-46C3-00AA-2DD2DCEEF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1F8AF0-0C95-2111-C8EC-51F3A64095A9}"/>
              </a:ext>
            </a:extLst>
          </p:cNvPr>
          <p:cNvSpPr txBox="1"/>
          <p:nvPr/>
        </p:nvSpPr>
        <p:spPr>
          <a:xfrm>
            <a:off x="157276" y="1135116"/>
            <a:ext cx="11782476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/>
              <a:t>Consider </a:t>
            </a:r>
            <a:r>
              <a:rPr lang="en-US" b="1" dirty="0"/>
              <a:t>trigonometric regression </a:t>
            </a:r>
            <a:r>
              <a:rPr lang="en-US" dirty="0"/>
              <a:t>as follows: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F2ADA-3290-BCBC-8626-F0E94A0575C6}"/>
              </a:ext>
            </a:extLst>
          </p:cNvPr>
          <p:cNvSpPr txBox="1"/>
          <p:nvPr/>
        </p:nvSpPr>
        <p:spPr>
          <a:xfrm>
            <a:off x="252249" y="6173483"/>
            <a:ext cx="11185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Rasmussen and Ghahramani, </a:t>
            </a:r>
            <a:r>
              <a:rPr lang="en-US" sz="1400" b="1" dirty="0" err="1"/>
              <a:t>NeurIPS</a:t>
            </a:r>
            <a:r>
              <a:rPr lang="en-US" sz="1400" b="1" dirty="0"/>
              <a:t> 2000 – Simpson et al., Stat. Sci. 2017 – </a:t>
            </a:r>
            <a:r>
              <a:rPr lang="en-US" sz="1400" b="1" dirty="0" err="1"/>
              <a:t>Nalisnick</a:t>
            </a:r>
            <a:r>
              <a:rPr lang="en-US" sz="1400" b="1" dirty="0"/>
              <a:t> et al., AISTATS 2021</a:t>
            </a:r>
            <a:endParaRPr lang="en-SA" sz="1400" b="1" dirty="0"/>
          </a:p>
        </p:txBody>
      </p:sp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06DA4C9-4EEA-9871-46EF-F96C4EB6D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931" y="1026840"/>
            <a:ext cx="4356100" cy="850900"/>
          </a:xfrm>
          <a:prstGeom prst="rect">
            <a:avLst/>
          </a:prstGeom>
        </p:spPr>
      </p:pic>
      <p:pic>
        <p:nvPicPr>
          <p:cNvPr id="8" name="Picture 7" descr="A graph of numbers and numbers&#10;&#10;AI-generated content may be incorrect.">
            <a:extLst>
              <a:ext uri="{FF2B5EF4-FFF2-40B4-BE49-F238E27FC236}">
                <a16:creationId xmlns:a16="http://schemas.microsoft.com/office/drawing/2014/main" id="{745FB98C-E459-468B-3A53-85FDDE468F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88" t="2330" r="3705" b="2022"/>
          <a:stretch>
            <a:fillRect/>
          </a:stretch>
        </p:blipFill>
        <p:spPr>
          <a:xfrm>
            <a:off x="2914873" y="1855931"/>
            <a:ext cx="5457817" cy="43175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885B00-203B-D386-D2BD-5F3AC7042E43}"/>
              </a:ext>
            </a:extLst>
          </p:cNvPr>
          <p:cNvSpPr txBox="1"/>
          <p:nvPr/>
        </p:nvSpPr>
        <p:spPr>
          <a:xfrm>
            <a:off x="9103400" y="2656987"/>
            <a:ext cx="25985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Gaussian prior with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precision</a:t>
            </a:r>
            <a:r>
              <a:rPr lang="en-SA" sz="1600" dirty="0">
                <a:solidFill>
                  <a:srgbClr val="C00000"/>
                </a:solidFill>
              </a:rPr>
              <a:t> proportional to </a:t>
            </a:r>
            <a:r>
              <a:rPr lang="en-SA" sz="1600" i="1" dirty="0">
                <a:solidFill>
                  <a:srgbClr val="C00000"/>
                </a:solidFill>
              </a:rPr>
              <a:t>d</a:t>
            </a:r>
            <a:r>
              <a:rPr lang="en-SA" sz="1600" i="1" baseline="30000" dirty="0">
                <a:solidFill>
                  <a:srgbClr val="C00000"/>
                </a:solidFill>
              </a:rPr>
              <a:t>3</a:t>
            </a:r>
            <a:endParaRPr lang="en-SA" sz="1600" i="1" dirty="0">
              <a:solidFill>
                <a:srgbClr val="C00000"/>
              </a:solidFill>
            </a:endParaRP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59840CED-6E28-8879-57FC-2D6DCD46B9EC}"/>
              </a:ext>
            </a:extLst>
          </p:cNvPr>
          <p:cNvSpPr/>
          <p:nvPr/>
        </p:nvSpPr>
        <p:spPr>
          <a:xfrm>
            <a:off x="8525436" y="3966885"/>
            <a:ext cx="3635402" cy="2262905"/>
          </a:xfrm>
          <a:prstGeom prst="cloud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A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39E192-4A4D-2581-9FE7-08CFB8692F66}"/>
              </a:ext>
            </a:extLst>
          </p:cNvPr>
          <p:cNvSpPr txBox="1"/>
          <p:nvPr/>
        </p:nvSpPr>
        <p:spPr>
          <a:xfrm>
            <a:off x="8819398" y="4616940"/>
            <a:ext cx="2870721" cy="107721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0B050"/>
                </a:solidFill>
              </a:rPr>
              <a:t>Also, think about Gaussian 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</a:rPr>
              <a:t>processes  approximated with </a:t>
            </a:r>
          </a:p>
          <a:p>
            <a:pPr algn="ctr"/>
            <a:r>
              <a:rPr lang="en-US" sz="1600" dirty="0">
                <a:solidFill>
                  <a:srgbClr val="00B050"/>
                </a:solidFill>
              </a:rPr>
              <a:t>random Fourier features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(frequencies decay fast)</a:t>
            </a:r>
            <a:endParaRPr lang="en-SA" sz="1600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260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63D49-736E-CE66-7076-650ABD56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64CA8653-E2F8-FAB7-5094-53498191F81D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D6D2BFEF-2D1D-DA33-3AD9-F58F4BA62346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Is Penalization the Answer? Or Just Over-Parameterization?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7279FEFB-402B-E85D-3C9B-FF7DB0C14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69D304-835E-0362-BF2F-085C35EE0227}"/>
              </a:ext>
            </a:extLst>
          </p:cNvPr>
          <p:cNvSpPr txBox="1"/>
          <p:nvPr/>
        </p:nvSpPr>
        <p:spPr>
          <a:xfrm>
            <a:off x="157276" y="1135116"/>
            <a:ext cx="11782476" cy="2753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dirty="0"/>
              <a:t>Imposing </a:t>
            </a:r>
            <a:r>
              <a:rPr lang="en-US" b="1" dirty="0"/>
              <a:t>penalization on complexity </a:t>
            </a:r>
            <a:r>
              <a:rPr lang="en-US" dirty="0"/>
              <a:t>makes Bayesian model selection compatible with scaling laws</a:t>
            </a:r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dirty="0"/>
              <a:t>However, scaling laws emerge even </a:t>
            </a:r>
            <a:r>
              <a:rPr lang="en-US" b="1" dirty="0"/>
              <a:t>without</a:t>
            </a:r>
            <a:r>
              <a:rPr lang="en-US" dirty="0"/>
              <a:t> this type of regularization</a:t>
            </a:r>
            <a:r>
              <a:rPr lang="en-US" b="1" dirty="0"/>
              <a:t>*</a:t>
            </a:r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dirty="0"/>
              <a:t>Is there any more to say about </a:t>
            </a:r>
            <a:r>
              <a:rPr lang="en-US" b="1" dirty="0"/>
              <a:t>priors**</a:t>
            </a:r>
            <a:r>
              <a:rPr lang="en-US" dirty="0"/>
              <a:t>? </a:t>
            </a:r>
            <a:endParaRPr lang="en-US" b="1" dirty="0"/>
          </a:p>
          <a:p>
            <a:pPr marL="285750" indent="-285750">
              <a:lnSpc>
                <a:spcPct val="250000"/>
              </a:lnSpc>
              <a:buFont typeface="Wingdings" pitchFamily="2" charset="2"/>
              <a:buChar char="Ø"/>
            </a:pPr>
            <a:r>
              <a:rPr lang="en-US" dirty="0"/>
              <a:t>Does this imply that in overparameterized models simplicity </a:t>
            </a:r>
            <a:r>
              <a:rPr lang="en-US" b="1" dirty="0"/>
              <a:t>emerges </a:t>
            </a:r>
            <a:r>
              <a:rPr lang="en-US" dirty="0"/>
              <a:t>over complexity</a:t>
            </a:r>
            <a:r>
              <a:rPr lang="en-US" b="1" dirty="0"/>
              <a:t>***</a:t>
            </a:r>
            <a:r>
              <a:rPr lang="en-US" dirty="0"/>
              <a:t>? Simplicity bias!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4C5007-F65D-4874-7E34-61249589EAEA}"/>
              </a:ext>
            </a:extLst>
          </p:cNvPr>
          <p:cNvSpPr txBox="1"/>
          <p:nvPr/>
        </p:nvSpPr>
        <p:spPr>
          <a:xfrm>
            <a:off x="252249" y="6119336"/>
            <a:ext cx="11185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* except for stochastic optimization / weight decay / dropout</a:t>
            </a:r>
          </a:p>
          <a:p>
            <a:r>
              <a:rPr lang="en-SA" sz="1400" b="1" dirty="0"/>
              <a:t>** Polson and Sokolov, arXiv 2025, Riha et al., arXiv 2026</a:t>
            </a:r>
          </a:p>
          <a:p>
            <a:r>
              <a:rPr lang="en-SA" sz="1400" b="1" dirty="0"/>
              <a:t>*** Mingard et al., arXiv 2019l – Wilson, arXiv, 2025</a:t>
            </a:r>
          </a:p>
        </p:txBody>
      </p:sp>
    </p:spTree>
    <p:extLst>
      <p:ext uri="{BB962C8B-B14F-4D97-AF65-F5344CB8AC3E}">
        <p14:creationId xmlns:p14="http://schemas.microsoft.com/office/powerpoint/2010/main" val="1608635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4C13-8497-20F1-BAB5-DF851C16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DB917722-939A-B040-EB3E-3A5E087F179B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A6E47CA0-E533-3C35-5319-2D5E9B4B876D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Example: Regression with Neural Networks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2136CB8B-E198-6520-E4D8-C96ED6BC9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6DFDD-0D36-C3DF-E002-242890B7A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978" y="801503"/>
            <a:ext cx="10418303" cy="595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642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CD41-6917-829D-51A2-34B2F0BC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D6C289FF-0F80-5C89-0673-BB963869C0CF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04486000-A34A-2527-92A1-2A5EB4B89E91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Solution with Correct Model Specification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C4DCF208-6A02-CC3D-B819-D74D6DEC1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6075F9-B514-9E75-E1F4-C2B1B728F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42" y="901766"/>
            <a:ext cx="10292248" cy="588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0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14605-929B-F966-CF37-B31C5A9C2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869F8BAF-6B55-91D5-9432-A418B8CACE7B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B07D7536-C361-05C4-E1F3-01DAE8DC341F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Prior Predictive Distributions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A7F91C52-E993-DA08-5CBD-2F60A283E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7812DC-0CBA-0606-1E7D-1A3BBAEF0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66" y="1119735"/>
            <a:ext cx="10560668" cy="535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1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5A478-DB64-DC3E-0C01-8BD055CB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4234E664-1A8A-E1D0-A124-3A082456846F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70A69459-F97F-2CA7-063D-1F7665C3B6C0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Example: Regression with Neural Networks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21215E3D-EDB1-0986-E0A6-85C68633B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593950-5EAD-9D9E-A2AE-4A15B695B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160" y="903521"/>
            <a:ext cx="11536060" cy="585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39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E9C4-BD7C-0A54-A9F8-FB66CF786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ACEB85BB-513B-3832-B917-52606E6C04EB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9095EFB-C31D-A32F-FD55-38B5AE4262F0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 In-Distribution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B47FB736-7A4F-F88F-CDE5-5BDD1E885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8D5D80-5DDA-A776-050A-53758A168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087" y="3940579"/>
            <a:ext cx="4052341" cy="2701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084DCC-4A8B-F8A5-49D4-B7A73A072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0112" y="3940579"/>
            <a:ext cx="4052341" cy="2701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8DA8AD-3858-9715-0791-794C59032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088" y="1020261"/>
            <a:ext cx="4052341" cy="27015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1FAF8CF-9E79-47D0-25F7-BDBA9ED266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4504" y="822412"/>
            <a:ext cx="4052341" cy="270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18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FA4E8-73D0-5DEB-E409-A1D53002B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17D8B8FF-94C9-70A7-FFEF-D80BDFB55623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294A0BA8-5B00-FF0E-C598-3854848F85E8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 Out-of-Distribution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04469BF1-9044-3733-54D1-E5718AB4E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F43A23-A530-2523-D695-3A8E227DE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632" y="1010015"/>
            <a:ext cx="4052340" cy="2701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4B130E-D1C0-8115-6F57-CD7F8BCB98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263" y="1010015"/>
            <a:ext cx="4052340" cy="27015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9BFF4F-EE0C-5D9E-3A7B-F76F0278E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631" y="3920087"/>
            <a:ext cx="4052340" cy="27015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2F0326F-B848-2ABC-8366-6F2D3A6F65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9263" y="3920087"/>
            <a:ext cx="4052340" cy="270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531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1B6F-9486-6691-6874-E1F40771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D1323-D585-064D-A94B-67D22A5ED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593" y="821922"/>
            <a:ext cx="10308265" cy="5890437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FC9C9C69-BB72-39A6-5098-B5CBA83CEFD5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2AB7DE90-397E-551A-F48D-EE5EFB4DFE79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Example: Regression with Neural Networks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AF30D3EB-8909-3D11-85EF-098A12FBF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062260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6F31F-6208-9D33-EE2A-E04CE7CF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EF7851-5614-E443-8BBA-222F5347A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610" y="901766"/>
            <a:ext cx="9949412" cy="5685378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CDFE4288-9C52-E4FF-33FE-185A005A676B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3E0BF32F-B1BD-AE7B-4194-ED5454763812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Solution with Correct Model Specification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11D69EB9-5243-2CB6-588E-B506854AE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9035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C6AA-CE4C-E80A-E05C-7C0CFAE0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9BE55B74-4178-11A9-26A1-6F4AC1C6EA69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D6E8D624-AA95-7480-6CD0-E32DD114A7D9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Prior Predictive Distributions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D50C4C62-49C2-EC03-8CE8-F626C096A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21DCA-0CAB-E29C-9529-7892857CD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66" y="1119735"/>
            <a:ext cx="10560668" cy="5356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118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11090-0C16-4E8C-1E88-13EE0EC58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3257A6F-08C6-12FA-84CD-65DB35E1B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6" y="801503"/>
            <a:ext cx="11475808" cy="5820144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4A349979-0A34-4BE9-C5D6-77A18F15931E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A40B6AC6-DFC9-6DB1-ABD1-31F7E9077F35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Example: Regression with Neural Networks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6469E999-F75C-2674-D5A9-EA7D69B1B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278009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66A96-A8CC-454E-C6A1-A72742C8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6B1BFD4-8C08-30DD-DAEE-18584077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479" y="3861873"/>
            <a:ext cx="4288454" cy="28589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2A5C48-D0AC-918C-B4C8-12497DC69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560" y="3940578"/>
            <a:ext cx="4052341" cy="27015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E035CA-8BA3-2869-EF82-B491BBCB3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5479" y="941556"/>
            <a:ext cx="4288454" cy="28589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B8BD0E-51B0-0673-0792-42F432789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504" y="941556"/>
            <a:ext cx="4288454" cy="2858969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EB9EF184-B8E3-4902-4D5E-597ED3C7976A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EDA691A-9552-0AE6-3DC1-D0E4FA34BDA5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 In-Distribution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88FF3A23-6759-266F-6811-95CB225A78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27757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EE1E9-9B39-C112-D677-3839171D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A59619F2-65E4-932C-6931-78105EF4F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263" y="3907020"/>
            <a:ext cx="4052340" cy="2701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8EA278-E32F-9F51-8210-4F5D29C61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228" y="3893953"/>
            <a:ext cx="4052340" cy="27015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FCC516-6587-3EC6-0DB4-5F6F31D62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263" y="955329"/>
            <a:ext cx="4427537" cy="29516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014EC5-E4E5-6886-C37D-3363788A04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031" y="955329"/>
            <a:ext cx="4427537" cy="2951691"/>
          </a:xfrm>
          <a:prstGeom prst="rect">
            <a:avLst/>
          </a:prstGeom>
        </p:spPr>
      </p:pic>
      <p:sp>
        <p:nvSpPr>
          <p:cNvPr id="4" name="Shape">
            <a:extLst>
              <a:ext uri="{FF2B5EF4-FFF2-40B4-BE49-F238E27FC236}">
                <a16:creationId xmlns:a16="http://schemas.microsoft.com/office/drawing/2014/main" id="{61B640C1-D831-E807-58C8-CCA7F6909DBD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701ACFA5-B752-C5BA-6D7E-062C42DAB898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Performance Out-of-Distribution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A0406C96-ACB4-6477-53FD-BEBCF0C4713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4113353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B490-F3C9-4741-8609-D455FA79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E5F42B8C-7AD6-F933-AAEF-D75EA1F1A0AC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79FAEB7-E03C-604D-3A44-2C5D7C37ED39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Concluding Thoughts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19AB5B6F-EEBF-02EF-A662-D9B3E8579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8CD99F-30FC-8E39-98CF-FF2D6073E49D}"/>
              </a:ext>
            </a:extLst>
          </p:cNvPr>
          <p:cNvSpPr txBox="1"/>
          <p:nvPr/>
        </p:nvSpPr>
        <p:spPr>
          <a:xfrm>
            <a:off x="157276" y="1135116"/>
            <a:ext cx="11782476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Scaling Laws are a fascinating phenomenon characterizing overparameterized models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Bayesian model selection is “compatible” with scaling laws if we introduce complexity penalties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But what if we don’t?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Isn’t it still relevant to look for simpler and cheaper models, as opposed to giant and expensive ones?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How to perform model selection in a practical way?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02B8A3-8B0A-BAAB-7DD1-07000CE4CD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5129"/>
          <a:stretch>
            <a:fillRect/>
          </a:stretch>
        </p:blipFill>
        <p:spPr>
          <a:xfrm>
            <a:off x="3390708" y="3922867"/>
            <a:ext cx="5410584" cy="293513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41263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E874-F6AF-B8E7-C958-B0A67ECB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">
            <a:extLst>
              <a:ext uri="{FF2B5EF4-FFF2-40B4-BE49-F238E27FC236}">
                <a16:creationId xmlns:a16="http://schemas.microsoft.com/office/drawing/2014/main" id="{47D9A1C4-F0A2-A4F9-DCE2-575A983FD7C8}"/>
              </a:ext>
            </a:extLst>
          </p:cNvPr>
          <p:cNvSpPr/>
          <p:nvPr/>
        </p:nvSpPr>
        <p:spPr>
          <a:xfrm>
            <a:off x="157275" y="205119"/>
            <a:ext cx="1107335" cy="575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0" y="4021"/>
                </a:lnTo>
                <a:cubicBezTo>
                  <a:pt x="0" y="1815"/>
                  <a:pt x="976" y="0"/>
                  <a:pt x="2162" y="0"/>
                </a:cubicBezTo>
                <a:lnTo>
                  <a:pt x="19438" y="0"/>
                </a:lnTo>
                <a:cubicBezTo>
                  <a:pt x="20624" y="0"/>
                  <a:pt x="21600" y="1815"/>
                  <a:pt x="21600" y="4021"/>
                </a:cubicBezTo>
                <a:lnTo>
                  <a:pt x="21600" y="21600"/>
                </a:lnTo>
                <a:close/>
              </a:path>
            </a:pathLst>
          </a:custGeom>
          <a:solidFill>
            <a:srgbClr val="CECD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37" name="Tytuł 97">
            <a:extLst>
              <a:ext uri="{FF2B5EF4-FFF2-40B4-BE49-F238E27FC236}">
                <a16:creationId xmlns:a16="http://schemas.microsoft.com/office/drawing/2014/main" id="{185F8E96-16A1-4943-3640-6FD8F21C9394}"/>
              </a:ext>
            </a:extLst>
          </p:cNvPr>
          <p:cNvSpPr txBox="1">
            <a:spLocks/>
          </p:cNvSpPr>
          <p:nvPr/>
        </p:nvSpPr>
        <p:spPr>
          <a:xfrm>
            <a:off x="1424504" y="236353"/>
            <a:ext cx="9789518" cy="565150"/>
          </a:xfrm>
          <a:prstGeom prst="rect">
            <a:avLst/>
          </a:prstGeom>
          <a:solidFill>
            <a:srgbClr val="CECD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Some More References</a:t>
            </a:r>
            <a:endParaRPr lang="pl-PL" sz="3000" b="1" dirty="0">
              <a:solidFill>
                <a:schemeClr val="accent1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2" name="Picture 2" descr="sml_pms_c_non.png">
            <a:extLst>
              <a:ext uri="{FF2B5EF4-FFF2-40B4-BE49-F238E27FC236}">
                <a16:creationId xmlns:a16="http://schemas.microsoft.com/office/drawing/2014/main" id="{9BAFC027-E238-E890-7D82-CB1D4AD57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7457" y="103777"/>
            <a:ext cx="696486" cy="669174"/>
          </a:xfrm>
          <a:prstGeom prst="rect">
            <a:avLst/>
          </a:prstGeom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67622A-936C-52AF-CCF9-7AD7A866CB20}"/>
              </a:ext>
            </a:extLst>
          </p:cNvPr>
          <p:cNvSpPr txBox="1"/>
          <p:nvPr/>
        </p:nvSpPr>
        <p:spPr>
          <a:xfrm>
            <a:off x="157276" y="1363724"/>
            <a:ext cx="11782476" cy="57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itchFamily="2" charset="2"/>
              <a:buChar char="Ø"/>
            </a:pPr>
            <a:r>
              <a:rPr lang="en-US" dirty="0"/>
              <a:t>Bayesian principles to understand and improve deep learning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5A78E-4AC4-387B-CB85-22E337B651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338"/>
          <a:stretch>
            <a:fillRect/>
          </a:stretch>
        </p:blipFill>
        <p:spPr>
          <a:xfrm>
            <a:off x="366468" y="2426229"/>
            <a:ext cx="5410584" cy="38316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7C8356-2E6D-8F64-6E49-8D61870CB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1501" y="2426229"/>
            <a:ext cx="5415956" cy="383169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12839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plate PresentationGO">
  <a:themeElements>
    <a:clrScheme name="PGO2">
      <a:dk1>
        <a:sysClr val="windowText" lastClr="000000"/>
      </a:dk1>
      <a:lt1>
        <a:sysClr val="window" lastClr="FFFFFF"/>
      </a:lt1>
      <a:dk2>
        <a:srgbClr val="063951"/>
      </a:dk2>
      <a:lt2>
        <a:srgbClr val="D3D3D3"/>
      </a:lt2>
      <a:accent1>
        <a:srgbClr val="3A5C84"/>
      </a:accent1>
      <a:accent2>
        <a:srgbClr val="F7931F"/>
      </a:accent2>
      <a:accent3>
        <a:srgbClr val="4CC1EF"/>
      </a:accent3>
      <a:accent4>
        <a:srgbClr val="FFCC4C"/>
      </a:accent4>
      <a:accent5>
        <a:srgbClr val="C13018"/>
      </a:accent5>
      <a:accent6>
        <a:srgbClr val="A2B969"/>
      </a:accent6>
      <a:hlink>
        <a:srgbClr val="6C2B43"/>
      </a:hlink>
      <a:folHlink>
        <a:srgbClr val="6C2B43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2973</TotalTime>
  <Words>496</Words>
  <Application>Microsoft Macintosh PowerPoint</Application>
  <PresentationFormat>Widescreen</PresentationFormat>
  <Paragraphs>83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Calibri Light</vt:lpstr>
      <vt:lpstr>Cambria Math</vt:lpstr>
      <vt:lpstr>Helvetica</vt:lpstr>
      <vt:lpstr>Open Sans</vt:lpstr>
      <vt:lpstr>Raleway</vt:lpstr>
      <vt:lpstr>Wingdings</vt:lpstr>
      <vt:lpstr>Office Theme</vt:lpstr>
      <vt:lpstr>Template PresentationGO</vt:lpstr>
      <vt:lpstr>1_Template PresentationGO</vt:lpstr>
      <vt:lpstr>Model Selection for Overparameterized Models  Maurizio Filippone Statistics Program, KAUST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Rosemary Mills</dc:creator>
  <cp:lastModifiedBy>Maurizio Filippone</cp:lastModifiedBy>
  <cp:revision>160</cp:revision>
  <dcterms:created xsi:type="dcterms:W3CDTF">2024-07-25T08:06:51Z</dcterms:created>
  <dcterms:modified xsi:type="dcterms:W3CDTF">2026-07-01T21:34:23Z</dcterms:modified>
</cp:coreProperties>
</file>