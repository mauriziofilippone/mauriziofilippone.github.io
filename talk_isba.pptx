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</p:sldMasterIdLst>
  <p:notesMasterIdLst>
    <p:notesMasterId r:id="rId25"/>
  </p:notesMasterIdLst>
  <p:sldIdLst>
    <p:sldId id="1901" r:id="rId4"/>
    <p:sldId id="1905" r:id="rId5"/>
    <p:sldId id="1922" r:id="rId6"/>
    <p:sldId id="1904" r:id="rId7"/>
    <p:sldId id="1906" r:id="rId8"/>
    <p:sldId id="1908" r:id="rId9"/>
    <p:sldId id="1909" r:id="rId10"/>
    <p:sldId id="1910" r:id="rId11"/>
    <p:sldId id="1923" r:id="rId12"/>
    <p:sldId id="1924" r:id="rId13"/>
    <p:sldId id="1925" r:id="rId14"/>
    <p:sldId id="1926" r:id="rId15"/>
    <p:sldId id="1927" r:id="rId16"/>
    <p:sldId id="1928" r:id="rId17"/>
    <p:sldId id="1929" r:id="rId18"/>
    <p:sldId id="1930" r:id="rId19"/>
    <p:sldId id="1931" r:id="rId20"/>
    <p:sldId id="1932" r:id="rId21"/>
    <p:sldId id="1933" r:id="rId22"/>
    <p:sldId id="1934" r:id="rId23"/>
    <p:sldId id="1911" r:id="rId24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700"/>
    <a:srgbClr val="F09100"/>
    <a:srgbClr val="01A4A6"/>
    <a:srgbClr val="CE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15"/>
    <p:restoredTop sz="79197"/>
  </p:normalViewPr>
  <p:slideViewPr>
    <p:cSldViewPr snapToGrid="0">
      <p:cViewPr varScale="1">
        <p:scale>
          <a:sx n="90" d="100"/>
          <a:sy n="90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D3380-639D-914D-ADAC-BC9FB4971063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996E5-92FB-0641-B1B1-728B46F51AD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99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417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AF15-528B-8E54-E09E-1E936DB5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B01C1-EF43-18FD-62D5-0F909D977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C97F2-9597-5BD9-C8B7-3FC2B56B2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530D9-1474-D781-139E-95C1BE489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42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46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3322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6045-0771-BEB9-DFB7-8BFF4C62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48985-B5C6-D822-A968-46D5C15C1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36612-1856-4263-51AC-B9A0B449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CDDFD-2C2E-44A6-A268-E920EBCA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8518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18F5-48AF-92DE-B192-C87653EA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9036E-647F-4E81-936C-E9AADDFAD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43965-37E6-4DF8-A7F9-78B92760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4BF58-28FE-236A-0B31-A8238A040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06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DFAC-F34D-8183-684D-53D5D7A5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B6C65-83C7-639A-CA45-4F42DC91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8F855-D159-D317-CCD3-C1394EB49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06498-7555-2EEB-4C31-00AB4D969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044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42DA-BA52-C1AC-73BB-59EC12FC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8E533-61ED-E010-1DBD-4B371BADA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7DDF9-5010-6344-7F3F-7BA42ECA5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7A52-7D71-8247-083D-DEA9976C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009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EC3B-A0D9-03D0-715E-85FB40AC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945B3-BBCB-72F6-0810-10464F527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F236C-1819-1E74-0321-16B227184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E33D-2742-52A1-7C9A-FD9871F52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08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EE85-2B14-A0EA-35B0-3F29B01A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DAB84-41A9-7B87-4BCB-1ACD715A4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B5D24-EFF7-6C87-8938-B541D5011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28BA1-19CA-63DE-784D-880E636B7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19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F1D6-8304-C407-5206-C280C5B9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6F9BD-C104-4FFB-F6FD-E37DD79B2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EF38A-EFCB-57CD-EB03-C93973C0D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5C3F9-2D15-AD48-32CB-05A9FD50D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019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9C43-E7DE-D4C4-3F4D-BC9924F7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D96F-C6D0-8CD6-0B12-F75CE6B47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53884-39FE-7BCD-26DB-8F286F853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00914-DC4B-EA30-EB81-F174F46DC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786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95F1-1C39-898F-2BFE-7E5E459B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04B0A-2ECC-4549-4039-19292456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77841-6ADA-51E2-3BC3-89954D681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0F34A-4586-2598-CBE8-6C78AE039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259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C401-9A3D-2424-4859-FB8DFA2A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0AA79-B6E6-4467-6661-DC0D54A28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F947F-409E-3AA0-B737-E0522B6D8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6AC85-A4E7-9F9C-16C7-3EC79171F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581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7BBF-52F8-557C-4505-EEB84F06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CF0AD-DCFA-5401-E5FE-1897BD004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56F0B-B9C3-A57F-F980-C073F4512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09FDF-B07F-C077-FDA0-1FAF2183F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53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F359-0AA5-51DC-8E0A-D683575C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9A2B5-1EDC-42EF-4A0F-78F10A7E5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75463-86DC-3082-8548-3B3BA2ADE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17ED5-0A3D-AD25-83AC-6838A7EA9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5004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2E26-3539-C8B8-9166-8A67F559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40DC5-5A13-9EF2-C8C1-D26B1212C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748C3-FD33-4490-5078-C33C2B8A2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CA7E-EFB7-EFD5-6D7F-E6ABE898F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890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BF33-252F-DCF6-09F8-D8E2AD77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B98CC-53E7-3C02-A56C-8E349155D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F3A82-685F-5D30-E3B7-5E59226BF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BF943-A545-238E-732A-AE4B5C8D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779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6BAB-1D9F-B883-018C-41EBAEA6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7928D-E6EB-6F45-F171-C52AE98A5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2B3BF-3516-DE9B-91BE-E0E6B316B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248B-7399-D3C4-5644-03825DE65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007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D0A5-526C-9D6B-D65C-46FB2560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44710-56DB-B63D-998F-997342BCD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CF61F-92B8-256E-0E2D-16AA9349E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2A3AD-A162-92B8-7615-744DA1660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540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63AF-5BAF-5CF8-CF29-50FE51CD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1DA72-B46C-B091-55DE-186F47AE0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0080-19BA-6607-3169-44A929F9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E2D57-47DE-60A4-9BC4-74557B08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BDE29-11C9-A028-F678-EDD8C9E7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10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0780-CF83-B1C1-D9B5-8A5F0C0D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BDA80-785D-B798-54A4-26599DE1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F2AB-CA26-6D4D-F8DB-E040F0A0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0794D-A9C4-8F1D-8B95-DF319299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B8FE-4B68-191C-E0AA-6AF2B7ED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9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439C-F310-11FC-2D55-5B5AE6F3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341F0-DB91-8DAB-3B4C-1C8BDEF5E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EE1FE-E14D-1D28-79D0-E40D5EB6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A964-9EC6-C8A4-651E-CA6B5043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A410-3ABF-1911-CE65-58D114F3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5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60C4-5606-7913-2AD4-0CA06F7F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D9D7A-74AE-2B4E-8CC9-77D0F3A69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1B39-3A0C-682A-2198-BB0486B6F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E4BEA-42D5-DF8C-F117-FA64B871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379B4-2FF5-BDEE-8587-5DF000ED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3F92A-B44C-9A18-5B24-11AB4B5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35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6309-97A7-1DE7-6A14-1C0F701F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43AD0-1F9A-88CC-89B2-D3BCCE4E6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3EA8A-056F-3DEE-841B-E9FCE62E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82504-70DB-BBA2-DCEB-A496958F3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7EFC4-0EE0-7A94-BC29-CC95E07AB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7530A-45E4-862D-DDA4-876F602B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7EDCD-FE05-DDD3-97C9-06672060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B12AC-413E-A0BF-0CFF-6BC5AFBB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33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771B-16CB-24EB-821C-2EB9E51B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EB9D-1209-CD02-E15D-7D136018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515BE-8A59-533F-7F30-F7D96D4F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90809-E352-D080-796B-26B1090F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0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405D1-3709-D3B9-3D6A-A97524D3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0CAFD-D732-476A-4880-52224E14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5AA12-A6FB-D31F-2AA2-0FC853DF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99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B704-EB13-9AFB-D7CD-B91B9A43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BF0E-3815-80C0-BC47-0D0A4C4E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ACB4C-E4E0-A914-82E0-817A525B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C791D-E0F0-2CF9-FC8A-BD1B79CD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2D78-63CC-E777-7E7A-7F8140E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7A319-BA19-7937-6FFF-DFB3429F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11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249B-0433-B3E3-81AF-4C10E63C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C96FE-40BD-FA79-E4F1-23F0522DF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33F45-A573-853B-5ACC-A50B6DADB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F8149-BC8B-AD8F-BD7C-4F7C3CA6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B2699-9276-EB17-6951-AB56E469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8067-8B19-82F0-F0B4-03779BB3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996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6F2F-BEED-D7A6-BF15-481625EF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B1D6B-7F8D-4826-F6AF-91A78643C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7D5EF-B45C-5311-1480-A86FBC0E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4F65-8B5C-A78D-1FD3-F86460A6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279D7-CFC2-C8CE-489D-81FDAFF8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37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B99D34-9923-1D91-5B26-705A8DEE2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91CC0-9004-B5D6-9EE3-923472266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5115-5ED5-C60D-96C5-6D7DE13E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F2DFE-951F-B42C-4FE6-B644AD49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2113-49F1-9482-88D0-D1E21991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862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745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97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12726-7740-2A1A-81B4-CFF5FA25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B3A4C-3F0E-69A1-6A24-409B62B3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B470-ACC4-495F-81D3-2680AF995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C8889-D5CE-964A-BFF1-BF46ECCB5E85}" type="datetimeFigureOut">
              <a:rPr lang="en-GB" smtClean="0"/>
              <a:t>01/07/2026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F5234-E695-EB11-7F58-CD52869E2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6F27-1F82-87A9-6287-8CDC28CE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6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2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78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" y="0"/>
            <a:ext cx="12190549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D703C1-F33D-4540-A80B-80E1E0A7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259" y="2272553"/>
            <a:ext cx="8296887" cy="267596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  <a:t>Model Selection for Overparameterized Models</a:t>
            </a:r>
            <a:b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b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  <a:t>Maurizio Filippone</a:t>
            </a:r>
            <a:b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  <a:t>Statistics Program, KAUST</a:t>
            </a:r>
            <a:endParaRPr lang="en-US" sz="4000" b="1" dirty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21308" y="2377910"/>
            <a:ext cx="0" cy="1156677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FCFD0669-62E7-9AC0-1261-0D7BCF018CC2}"/>
              </a:ext>
            </a:extLst>
          </p:cNvPr>
          <p:cNvSpPr txBox="1">
            <a:spLocks/>
          </p:cNvSpPr>
          <p:nvPr/>
        </p:nvSpPr>
        <p:spPr>
          <a:xfrm>
            <a:off x="3317148" y="4191904"/>
            <a:ext cx="7535795" cy="46166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171D0"/>
              </a:buClr>
              <a:buSzPct val="85000"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10000"/>
                </a:srgbClr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5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Double Descent and Neural Scaling Laws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8FAF5-C8D2-D9CF-4341-043C1EF7A465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 sz="1400" b="1" dirty="0"/>
              <a:t>Belkin et al., PNAS 2019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/>
              <a:t>Double descent </a:t>
            </a:r>
            <a:r>
              <a:rPr lang="en-US" dirty="0"/>
              <a:t>challenged common wisdom on overfitting!</a:t>
            </a:r>
          </a:p>
        </p:txBody>
      </p:sp>
      <p:pic>
        <p:nvPicPr>
          <p:cNvPr id="8" name="Picture 7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D8D4E487-73CB-7017-A317-72374509B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088" y="1814816"/>
            <a:ext cx="8309529" cy="41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1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4EA0-B5F2-6940-DD3F-43038B34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BF80E60C-280F-34C2-14D0-75A72858B78A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BF95C650-4667-940D-F818-BA8B7879E85B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Double Descent and Neural Scaling Laws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CF0A5DE-AD79-048C-1B57-34274A6E7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CE761-A8C7-EEC9-CB5C-5ACF965717B0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Kaplan et al., </a:t>
            </a:r>
            <a:r>
              <a:rPr lang="en-US" sz="1400" b="1" dirty="0" err="1"/>
              <a:t>arXiv</a:t>
            </a:r>
            <a:r>
              <a:rPr lang="en-US" sz="1400" b="1" dirty="0"/>
              <a:t> 2020 – Bahri et al., PNAS 2024 – Rosso et al., </a:t>
            </a:r>
            <a:r>
              <a:rPr lang="en-US" sz="1400" b="1" dirty="0" err="1"/>
              <a:t>arXiv</a:t>
            </a:r>
            <a:r>
              <a:rPr lang="en-US" sz="1400" b="1" dirty="0"/>
              <a:t> 2025</a:t>
            </a:r>
            <a:endParaRPr lang="en-SA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366A4-844D-D137-9096-A53F0B016DB5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/>
              <a:t>Neural scaling laws </a:t>
            </a:r>
            <a:r>
              <a:rPr lang="en-US" dirty="0"/>
              <a:t>allow one to extrapolate generalization </a:t>
            </a:r>
            <a:r>
              <a:rPr lang="en-US" dirty="0" err="1"/>
              <a:t>wrt</a:t>
            </a:r>
            <a:r>
              <a:rPr lang="en-US" dirty="0"/>
              <a:t> to model size, compute, and data set size.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8284CEE3-BFFE-8AFC-AA43-203AB9088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33" y="1640539"/>
            <a:ext cx="9733054" cy="435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Bayesian Model Selection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SA" dirty="0"/>
              <a:t>Marginal Likelihood as a model selection criterion</a:t>
            </a:r>
            <a:r>
              <a:rPr lang="en-US" dirty="0"/>
              <a:t>.</a:t>
            </a:r>
            <a:endParaRPr lang="en-S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7">
                <a:extLst>
                  <a:ext uri="{FF2B5EF4-FFF2-40B4-BE49-F238E27FC236}">
                    <a16:creationId xmlns:a16="http://schemas.microsoft.com/office/drawing/2014/main" id="{30141E37-B2C5-00FF-AB12-33854F1CF8D7}"/>
                  </a:ext>
                </a:extLst>
              </p:cNvPr>
              <p:cNvSpPr txBox="1"/>
              <p:nvPr/>
            </p:nvSpPr>
            <p:spPr>
              <a:xfrm>
                <a:off x="3436723" y="1969255"/>
                <a:ext cx="6070804" cy="86305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spcBef>
                    <a:spcPts val="95"/>
                  </a:spcBef>
                  <a:tabLst>
                    <a:tab pos="903605" algn="l"/>
                    <a:tab pos="187388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ahoma"/>
                        </a:rPr>
                        <m:t>𝒑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𝐖</m:t>
                          </m:r>
                          <m:r>
                            <a:rPr lang="en-US" sz="24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 | </m:t>
                          </m:r>
                          <m:r>
                            <a:rPr lang="en-US" sz="2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𝐘</m:t>
                          </m:r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, </m:t>
                          </m:r>
                          <m:r>
                            <a:rPr lang="en-US" sz="2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𝐗</m:t>
                          </m:r>
                        </m:e>
                      </m:d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ahoma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𝐘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 | 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𝐗</m:t>
                              </m:r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,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 </m:t>
                              </m:r>
                              <m:r>
                                <a:rPr lang="en-US" sz="2400" b="1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𝐖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𝐖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𝐘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 | 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𝐗</m:t>
                                  </m:r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,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 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𝐖</m:t>
                                  </m:r>
                                </m:e>
                              </m:d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𝐖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𝒅</m:t>
                          </m:r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𝐖</m:t>
                          </m:r>
                        </m:den>
                      </m:f>
                    </m:oMath>
                  </m:oMathPara>
                </a14:m>
                <a:endParaRPr sz="24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object 17">
                <a:extLst>
                  <a:ext uri="{FF2B5EF4-FFF2-40B4-BE49-F238E27FC236}">
                    <a16:creationId xmlns:a16="http://schemas.microsoft.com/office/drawing/2014/main" id="{30141E37-B2C5-00FF-AB12-33854F1C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723" y="1969255"/>
                <a:ext cx="6070804" cy="863057"/>
              </a:xfrm>
              <a:prstGeom prst="rect">
                <a:avLst/>
              </a:prstGeom>
              <a:blipFill>
                <a:blip r:embed="rId4"/>
                <a:stretch>
                  <a:fillRect t="-40580" b="-126087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68B4E0F-8F20-DE7E-AFCE-2820AEB25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506" y="3549903"/>
            <a:ext cx="3641246" cy="2372500"/>
          </a:xfrm>
          <a:prstGeom prst="rect">
            <a:avLst/>
          </a:prstGeom>
        </p:spPr>
      </p:pic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7A6613D5-7ABE-3348-9879-28974DBB1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13" y="3418789"/>
            <a:ext cx="6251904" cy="27191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A66C30-A7D8-918D-28EE-81A69D4A1322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Bishop, 2006.</a:t>
            </a:r>
            <a:endParaRPr lang="en-SA" sz="1400" b="1" dirty="0"/>
          </a:p>
        </p:txBody>
      </p:sp>
    </p:spTree>
    <p:extLst>
      <p:ext uri="{BB962C8B-B14F-4D97-AF65-F5344CB8AC3E}">
        <p14:creationId xmlns:p14="http://schemas.microsoft.com/office/powerpoint/2010/main" val="163170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Bayesian Model Selection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406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b="1" dirty="0"/>
              <a:t>Bayesian Model selection </a:t>
            </a:r>
            <a:r>
              <a:rPr lang="en-US" dirty="0"/>
              <a:t>is connected with: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Occam’s Razor</a:t>
            </a:r>
            <a:r>
              <a:rPr lang="en-US" dirty="0"/>
              <a:t>: simplest explanation is usually the best one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Kolmogorov complexity</a:t>
            </a:r>
            <a:r>
              <a:rPr lang="en-US" dirty="0"/>
              <a:t>: length of a shortest computer program generating the weights of the network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Minimum Description Length</a:t>
            </a:r>
            <a:r>
              <a:rPr lang="en-US" dirty="0"/>
              <a:t>: find the most concise representation of the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How do we reconcile Bayesian model selection with the conclusions from research on scaling laws?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56904-E527-D112-4E32-6FC7EF988C80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Solomonoff</a:t>
            </a:r>
            <a:r>
              <a:rPr lang="en-US" sz="1400" b="1" dirty="0"/>
              <a:t>, Information and Control 1964 – </a:t>
            </a:r>
            <a:r>
              <a:rPr lang="en-US" sz="1400" b="1" dirty="0" err="1"/>
              <a:t>Schmidhuber</a:t>
            </a:r>
            <a:r>
              <a:rPr lang="en-US" sz="1400" b="1" dirty="0"/>
              <a:t>, ICML 1995 – Hinton and Van Camp, COLT 1993 </a:t>
            </a:r>
            <a:endParaRPr lang="en-SA" sz="1400" b="1" dirty="0"/>
          </a:p>
        </p:txBody>
      </p:sp>
    </p:spTree>
    <p:extLst>
      <p:ext uri="{BB962C8B-B14F-4D97-AF65-F5344CB8AC3E}">
        <p14:creationId xmlns:p14="http://schemas.microsoft.com/office/powerpoint/2010/main" val="278479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A78C-F108-C585-9C7E-46A8FC21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CBF91E50-4EC7-9C14-56F7-722FBCAEDA85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7C4ABB2-03B4-ABFA-E6DA-C554665CBF7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Penalizing Complexity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B48272A4-E8CE-6495-9FC1-2B326A2A8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DCDA3-9FB3-4F3D-1B28-37FB4B91793D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Consider </a:t>
            </a:r>
            <a:r>
              <a:rPr lang="en-US" b="1" dirty="0"/>
              <a:t>trigonometric regression </a:t>
            </a:r>
            <a:r>
              <a:rPr lang="en-US" dirty="0"/>
              <a:t>as follows: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2E2C5-544B-419E-A9CD-FB2F6104CC61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Rasmussen and Ghahramani, </a:t>
            </a:r>
            <a:r>
              <a:rPr lang="en-US" sz="1400" b="1" dirty="0" err="1"/>
              <a:t>NeurIPS</a:t>
            </a:r>
            <a:r>
              <a:rPr lang="en-US" sz="1400" b="1" dirty="0"/>
              <a:t> 2000.</a:t>
            </a:r>
            <a:endParaRPr lang="en-SA" sz="1400" b="1" dirty="0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732E78-89BB-B7A9-553D-370C1FE27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31" y="1026840"/>
            <a:ext cx="4356100" cy="850900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401A059-FB11-91F2-1C8C-E63848EFF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804" y="1782707"/>
            <a:ext cx="5851946" cy="4416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4B304-4348-0661-D9A6-5BB3BBE6F405}"/>
              </a:ext>
            </a:extLst>
          </p:cNvPr>
          <p:cNvSpPr txBox="1"/>
          <p:nvPr/>
        </p:nvSpPr>
        <p:spPr>
          <a:xfrm>
            <a:off x="9160529" y="2656987"/>
            <a:ext cx="2484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Gaussian prior with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v</a:t>
            </a:r>
            <a:r>
              <a:rPr lang="en-SA" sz="1600" dirty="0">
                <a:solidFill>
                  <a:srgbClr val="C00000"/>
                </a:solidFill>
              </a:rPr>
              <a:t>ariance independent of </a:t>
            </a:r>
            <a:r>
              <a:rPr lang="en-SA" sz="1600" i="1" dirty="0">
                <a:solidFill>
                  <a:srgbClr val="C0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9384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6B45-133E-5BA3-233B-1BC9AC96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2C7F28E9-1F00-ED42-7581-DCA78371AE00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BB96C2C-F10A-A141-85CA-F3149CD711BB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Penalizing Complexity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97D4C5C0-178A-46C3-00AA-2DD2DCEEF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F8AF0-0C95-2111-C8EC-51F3A64095A9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Consider </a:t>
            </a:r>
            <a:r>
              <a:rPr lang="en-US" b="1" dirty="0"/>
              <a:t>trigonometric regression </a:t>
            </a:r>
            <a:r>
              <a:rPr lang="en-US" dirty="0"/>
              <a:t>as follows: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F2ADA-3290-BCBC-8626-F0E94A0575C6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Rasmussen and Ghahramani, </a:t>
            </a:r>
            <a:r>
              <a:rPr lang="en-US" sz="1400" b="1" dirty="0" err="1"/>
              <a:t>NeurIPS</a:t>
            </a:r>
            <a:r>
              <a:rPr lang="en-US" sz="1400" b="1" dirty="0"/>
              <a:t> 2000 – Simpson et al., Stat. Sci. 2017 – </a:t>
            </a:r>
            <a:r>
              <a:rPr lang="en-US" sz="1400" b="1" dirty="0" err="1"/>
              <a:t>Nalisnick</a:t>
            </a:r>
            <a:r>
              <a:rPr lang="en-US" sz="1400" b="1" dirty="0"/>
              <a:t> et al., AISTATS 2021</a:t>
            </a:r>
            <a:endParaRPr lang="en-SA" sz="1400" b="1" dirty="0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06DA4C9-4EEA-9871-46EF-F96C4EB6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31" y="1026840"/>
            <a:ext cx="4356100" cy="850900"/>
          </a:xfrm>
          <a:prstGeom prst="rect">
            <a:avLst/>
          </a:prstGeom>
        </p:spPr>
      </p:pic>
      <p:pic>
        <p:nvPicPr>
          <p:cNvPr id="8" name="Picture 7" descr="A graph of numbers and numbers&#10;&#10;AI-generated content may be incorrect.">
            <a:extLst>
              <a:ext uri="{FF2B5EF4-FFF2-40B4-BE49-F238E27FC236}">
                <a16:creationId xmlns:a16="http://schemas.microsoft.com/office/drawing/2014/main" id="{745FB98C-E459-468B-3A53-85FDDE468F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8" t="2330" r="3705" b="2022"/>
          <a:stretch>
            <a:fillRect/>
          </a:stretch>
        </p:blipFill>
        <p:spPr>
          <a:xfrm>
            <a:off x="2914873" y="1855931"/>
            <a:ext cx="5457817" cy="43175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885B00-203B-D386-D2BD-5F3AC7042E43}"/>
              </a:ext>
            </a:extLst>
          </p:cNvPr>
          <p:cNvSpPr txBox="1"/>
          <p:nvPr/>
        </p:nvSpPr>
        <p:spPr>
          <a:xfrm>
            <a:off x="9103400" y="2656987"/>
            <a:ext cx="2598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Gaussian prior with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precision</a:t>
            </a:r>
            <a:r>
              <a:rPr lang="en-SA" sz="1600" dirty="0">
                <a:solidFill>
                  <a:srgbClr val="C00000"/>
                </a:solidFill>
              </a:rPr>
              <a:t> proportional to </a:t>
            </a:r>
            <a:r>
              <a:rPr lang="en-SA" sz="1600" i="1" dirty="0">
                <a:solidFill>
                  <a:srgbClr val="C00000"/>
                </a:solidFill>
              </a:rPr>
              <a:t>d</a:t>
            </a:r>
            <a:r>
              <a:rPr lang="en-SA" sz="1600" i="1" baseline="30000" dirty="0">
                <a:solidFill>
                  <a:srgbClr val="C00000"/>
                </a:solidFill>
              </a:rPr>
              <a:t>3</a:t>
            </a:r>
            <a:endParaRPr lang="en-SA" sz="1600" i="1" dirty="0">
              <a:solidFill>
                <a:srgbClr val="C00000"/>
              </a:solidFill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59840CED-6E28-8879-57FC-2D6DCD46B9EC}"/>
              </a:ext>
            </a:extLst>
          </p:cNvPr>
          <p:cNvSpPr/>
          <p:nvPr/>
        </p:nvSpPr>
        <p:spPr>
          <a:xfrm>
            <a:off x="8525436" y="3966885"/>
            <a:ext cx="3635402" cy="2262905"/>
          </a:xfrm>
          <a:prstGeom prst="cloud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9E192-4A4D-2581-9FE7-08CFB8692F66}"/>
              </a:ext>
            </a:extLst>
          </p:cNvPr>
          <p:cNvSpPr txBox="1"/>
          <p:nvPr/>
        </p:nvSpPr>
        <p:spPr>
          <a:xfrm>
            <a:off x="8819398" y="4616940"/>
            <a:ext cx="2870721" cy="10772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Also, think about Gaussian 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</a:rPr>
              <a:t>processes  approximated with 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</a:rPr>
              <a:t>random Fourier features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(frequencies decay fast)</a:t>
            </a:r>
            <a:endParaRPr lang="en-SA" sz="16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26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3D49-736E-CE66-7076-650ABD56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64CA8653-E2F8-FAB7-5094-53498191F81D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D6D2BFEF-2D1D-DA33-3AD9-F58F4BA62346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Penalization the Answer? Or Just Over-Parameterization?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7279FEFB-402B-E85D-3C9B-FF7DB0C14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69D304-835E-0362-BF2F-085C35EE0227}"/>
              </a:ext>
            </a:extLst>
          </p:cNvPr>
          <p:cNvSpPr txBox="1"/>
          <p:nvPr/>
        </p:nvSpPr>
        <p:spPr>
          <a:xfrm>
            <a:off x="157276" y="1135116"/>
            <a:ext cx="11782476" cy="275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Imposing </a:t>
            </a:r>
            <a:r>
              <a:rPr lang="en-US" b="1" dirty="0"/>
              <a:t>penalization on complexity </a:t>
            </a:r>
            <a:r>
              <a:rPr lang="en-US" dirty="0"/>
              <a:t>makes Bayesian model selection compatible with scaling laws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However, scaling laws emerge even </a:t>
            </a:r>
            <a:r>
              <a:rPr lang="en-US" b="1" dirty="0"/>
              <a:t>without</a:t>
            </a:r>
            <a:r>
              <a:rPr lang="en-US" dirty="0"/>
              <a:t> this type of regularization</a:t>
            </a:r>
            <a:r>
              <a:rPr lang="en-US" b="1" dirty="0"/>
              <a:t>*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Is there any more to say about </a:t>
            </a:r>
            <a:r>
              <a:rPr lang="en-US" b="1" dirty="0"/>
              <a:t>priors**</a:t>
            </a:r>
            <a:r>
              <a:rPr lang="en-US" dirty="0"/>
              <a:t>? </a:t>
            </a: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Does this imply that in overparameterized models simplicity </a:t>
            </a:r>
            <a:r>
              <a:rPr lang="en-US" b="1" dirty="0"/>
              <a:t>emerges </a:t>
            </a:r>
            <a:r>
              <a:rPr lang="en-US" dirty="0"/>
              <a:t>over complexity</a:t>
            </a:r>
            <a:r>
              <a:rPr lang="en-US" b="1" dirty="0"/>
              <a:t>***</a:t>
            </a:r>
            <a:r>
              <a:rPr lang="en-US" dirty="0"/>
              <a:t>? Simplicity bias!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C5007-F65D-4874-7E34-61249589EAEA}"/>
              </a:ext>
            </a:extLst>
          </p:cNvPr>
          <p:cNvSpPr txBox="1"/>
          <p:nvPr/>
        </p:nvSpPr>
        <p:spPr>
          <a:xfrm>
            <a:off x="252249" y="6119336"/>
            <a:ext cx="11185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except for stochastic optimization / weight decay / dropout</a:t>
            </a:r>
          </a:p>
          <a:p>
            <a:r>
              <a:rPr lang="en-SA" sz="1400" b="1" dirty="0"/>
              <a:t>** Polson and Sokolov, arXiv 2025, Riha et al., arXiv 2026</a:t>
            </a:r>
          </a:p>
          <a:p>
            <a:r>
              <a:rPr lang="en-SA" sz="1400" b="1" dirty="0"/>
              <a:t>*** Mingard et al., arXiv 2019l – Wilson, arXiv, 2025</a:t>
            </a:r>
          </a:p>
        </p:txBody>
      </p:sp>
    </p:spTree>
    <p:extLst>
      <p:ext uri="{BB962C8B-B14F-4D97-AF65-F5344CB8AC3E}">
        <p14:creationId xmlns:p14="http://schemas.microsoft.com/office/powerpoint/2010/main" val="16086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4C13-8497-20F1-BAB5-DF851C16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DB917722-939A-B040-EB3E-3A5E087F179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A6E47CA0-E533-3C35-5319-2D5E9B4B876D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2136CB8B-E198-6520-E4D8-C96ED6BC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6DFDD-0D36-C3DF-E002-242890B7A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78" y="801503"/>
            <a:ext cx="10418303" cy="595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4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CD41-6917-829D-51A2-34B2F0BC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D6C289FF-0F80-5C89-0673-BB963869C0CF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04486000-A34A-2527-92A1-2A5EB4B89E91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Solution with Correct Model Specification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C4DCF208-6A02-CC3D-B819-D74D6DEC1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075F9-B514-9E75-E1F4-C2B1B728F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2" y="901766"/>
            <a:ext cx="10292248" cy="58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0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4605-929B-F966-CF37-B31C5A9C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869F8BAF-6B55-91D5-9432-A418B8CACE7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B07D7536-C361-05C4-E1F3-01DAE8DC341F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 Predictive Distributions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7F91C52-E993-DA08-5CBD-2F60A283E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7812DC-0CBA-0606-1E7D-1A3BBAEF0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66" y="1119735"/>
            <a:ext cx="10560668" cy="53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A478-DB64-DC3E-0C01-8BD055CB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4234E664-1A8A-E1D0-A124-3A082456846F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70A69459-F97F-2CA7-063D-1F7665C3B6C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21215E3D-EDB1-0986-E0A6-85C68633B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93950-5EAD-9D9E-A2AE-4A15B695B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60" y="903521"/>
            <a:ext cx="11536060" cy="5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3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E9C4-BD7C-0A54-A9F8-FB66CF78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CEB85BB-513B-3832-B917-52606E6C04E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9095EFB-C31D-A32F-FD55-38B5AE4262F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In-Distribution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B47FB736-7A4F-F88F-CDE5-5BDD1E885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D5D80-5DDA-A776-050A-53758A168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087" y="3940579"/>
            <a:ext cx="4052341" cy="270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84DCC-4A8B-F8A5-49D4-B7A73A07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12" y="3940579"/>
            <a:ext cx="4052341" cy="2701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DA8AD-3858-9715-0791-794C59032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088" y="1020261"/>
            <a:ext cx="4052341" cy="2701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FAF8CF-9E79-47D0-25F7-BDBA9ED26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504" y="822412"/>
            <a:ext cx="4052341" cy="27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18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A4E8-73D0-5DEB-E409-A1D53002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17D8B8FF-94C9-70A7-FFEF-D80BDFB55623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94A0BA8-5B00-FF0E-C598-3854848F85E8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Out-of-Distribution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04469BF1-9044-3733-54D1-E5718AB4E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43A23-A530-2523-D695-3A8E227DE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632" y="1010015"/>
            <a:ext cx="4052340" cy="2701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4B130E-D1C0-8115-6F57-CD7F8BCB9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63" y="1010015"/>
            <a:ext cx="4052340" cy="2701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9BFF4F-EE0C-5D9E-3A7B-F76F0278E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631" y="3920087"/>
            <a:ext cx="4052340" cy="2701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F0326F-B848-2ABC-8366-6F2D3A6F6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263" y="3920087"/>
            <a:ext cx="4052340" cy="27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3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1B6F-9486-6691-6874-E1F4077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D1323-D585-064D-A94B-67D22A5ED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93" y="821922"/>
            <a:ext cx="10308265" cy="5890437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FC9C9C69-BB72-39A6-5098-B5CBA83CEFD5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AB7DE90-397E-551A-F48D-EE5EFB4DFE7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F30D3EB-8909-3D11-85EF-098A12FBF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6226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F31F-6208-9D33-EE2A-E04CE7C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EF7851-5614-E443-8BBA-222F5347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10" y="901766"/>
            <a:ext cx="9949412" cy="5685378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CDFE4288-9C52-E4FF-33FE-185A005A676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3E0BF32F-B1BD-AE7B-4194-ED5454763812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Solution with Correct Model Specification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11D69EB9-5243-2CB6-588E-B506854AE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035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C6AA-CE4C-E80A-E05C-7C0CFAE0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9BE55B74-4178-11A9-26A1-6F4AC1C6EA69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D6E8D624-AA95-7480-6CD0-E32DD114A7D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 Predictive Distributions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D50C4C62-49C2-EC03-8CE8-F626C096A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21DCA-0CAB-E29C-9529-7892857C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66" y="1119735"/>
            <a:ext cx="10560668" cy="53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18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1090-0C16-4E8C-1E88-13EE0EC5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257A6F-08C6-12FA-84CD-65DB35E1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6" y="801503"/>
            <a:ext cx="11475808" cy="5820144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4A349979-0A34-4BE9-C5D6-77A18F15931E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A40B6AC6-DFC9-6DB1-ABD1-31F7E9077F35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6469E999-F75C-2674-D5A9-EA7D69B1B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78009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6A96-A8CC-454E-C6A1-A72742C8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6B1BFD4-8C08-30DD-DAEE-18584077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79" y="3861873"/>
            <a:ext cx="4288454" cy="2858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2A5C48-D0AC-918C-B4C8-12497DC69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560" y="3940578"/>
            <a:ext cx="4052341" cy="2701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035CA-8BA3-2869-EF82-B491BBCB3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479" y="941556"/>
            <a:ext cx="4288454" cy="2858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8BD0E-51B0-0673-0792-42F432789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504" y="941556"/>
            <a:ext cx="4288454" cy="2858969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EB9EF184-B8E3-4902-4D5E-597ED3C7976A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EDA691A-9552-0AE6-3DC1-D0E4FA34BDA5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In-Distribution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88FF3A23-6759-266F-6811-95CB225A78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775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E1E9-9B39-C112-D677-3839171D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59619F2-65E4-932C-6931-78105EF4F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263" y="3907020"/>
            <a:ext cx="4052340" cy="2701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8EA278-E32F-9F51-8210-4F5D29C61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28" y="3893953"/>
            <a:ext cx="4052340" cy="270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CC516-6587-3EC6-0DB4-5F6F31D62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63" y="955329"/>
            <a:ext cx="4427537" cy="2951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014EC5-E4E5-6886-C37D-3363788A0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031" y="955329"/>
            <a:ext cx="4427537" cy="2951691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61B640C1-D831-E807-58C8-CCA7F6909DBD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701ACFA5-B752-C5BA-6D7E-062C42DAB898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Out-of-Distribution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0406C96-ACB4-6477-53FD-BEBCF0C471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335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B490-F3C9-4741-8609-D455FA79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E5F42B8C-7AD6-F933-AAEF-D75EA1F1A0AC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79FAEB7-E03C-604D-3A44-2C5D7C37ED3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Concluding Thoughts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19AB5B6F-EEBF-02EF-A662-D9B3E8579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8CD99F-30FC-8E39-98CF-FF2D6073E49D}"/>
              </a:ext>
            </a:extLst>
          </p:cNvPr>
          <p:cNvSpPr txBox="1"/>
          <p:nvPr/>
        </p:nvSpPr>
        <p:spPr>
          <a:xfrm>
            <a:off x="157276" y="1135116"/>
            <a:ext cx="11782476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Scaling Laws are a fascinating phenomenon characterizing overparameterized models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Bayesian model selection is “compatible” with scaling laws if we introduce complexity penalties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But what if we don’t?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Isn’t it still relevant to look for simpler and cheaper models, as opposed to giant and expensive ones?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How to do model selection in a practical way? </a:t>
            </a:r>
          </a:p>
        </p:txBody>
      </p:sp>
    </p:spTree>
    <p:extLst>
      <p:ext uri="{BB962C8B-B14F-4D97-AF65-F5344CB8AC3E}">
        <p14:creationId xmlns:p14="http://schemas.microsoft.com/office/powerpoint/2010/main" val="214126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484</Words>
  <Application>Microsoft Macintosh PowerPoint</Application>
  <PresentationFormat>Widescreen</PresentationFormat>
  <Paragraphs>80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Calibri Light</vt:lpstr>
      <vt:lpstr>Cambria Math</vt:lpstr>
      <vt:lpstr>Helvetica</vt:lpstr>
      <vt:lpstr>Open Sans</vt:lpstr>
      <vt:lpstr>Raleway</vt:lpstr>
      <vt:lpstr>Wingdings</vt:lpstr>
      <vt:lpstr>Office Theme</vt:lpstr>
      <vt:lpstr>Template PresentationGO</vt:lpstr>
      <vt:lpstr>1_Template PresentationGO</vt:lpstr>
      <vt:lpstr>Model Selection for Overparameterized Models  Maurizio Filippone Statistics Program, KAUST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Rosemary Mills</dc:creator>
  <cp:lastModifiedBy>Maurizio Filippone</cp:lastModifiedBy>
  <cp:revision>158</cp:revision>
  <dcterms:created xsi:type="dcterms:W3CDTF">2024-07-25T08:06:51Z</dcterms:created>
  <dcterms:modified xsi:type="dcterms:W3CDTF">2026-07-01T05:27:13Z</dcterms:modified>
</cp:coreProperties>
</file>